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9f6c9f50c545f3" /><Relationship Type="http://schemas.openxmlformats.org/officeDocument/2006/relationships/extended-properties" Target="/docProps/app.xml" Id="Rbfed8f13866c4175" /><Relationship Type="http://schemas.openxmlformats.org/officeDocument/2006/relationships/officeDocument" Target="/ppt/presentation.xml" Id="R5de13183ba0d40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b3833a51f34332"/>
  </p:sldMasterIdLst>
  <p:notesMasterIdLst>
    <p:notesMasterId xmlns:r="http://schemas.openxmlformats.org/officeDocument/2006/relationships" r:id="R003c5f6e8a9e4bc2"/>
  </p:notesMasterIdLst>
  <p:sldIdLst>
    <p:sldId xmlns:r="http://schemas.openxmlformats.org/officeDocument/2006/relationships" id="256" r:id="R49c64d175072424e"/>
    <p:sldId xmlns:r="http://schemas.openxmlformats.org/officeDocument/2006/relationships" id="257" r:id="Rf4be5330a8a44dc5"/>
    <p:sldId xmlns:r="http://schemas.openxmlformats.org/officeDocument/2006/relationships" id="258" r:id="R5c1f02f1c32741b7"/>
    <p:sldId xmlns:r="http://schemas.openxmlformats.org/officeDocument/2006/relationships" id="259" r:id="R9dbfe95355404837"/>
    <p:sldId xmlns:r="http://schemas.openxmlformats.org/officeDocument/2006/relationships" id="260" r:id="R3b7d4f4937494957"/>
    <p:sldId xmlns:r="http://schemas.openxmlformats.org/officeDocument/2006/relationships" id="261" r:id="Rb76d57829bdf4188"/>
    <p:sldId xmlns:r="http://schemas.openxmlformats.org/officeDocument/2006/relationships" id="262" r:id="R38126315942042d4"/>
    <p:sldId xmlns:r="http://schemas.openxmlformats.org/officeDocument/2006/relationships" id="263" r:id="Rde68bfed1ac64d59"/>
    <p:sldId xmlns:r="http://schemas.openxmlformats.org/officeDocument/2006/relationships" id="264" r:id="R65919e3b739e4859"/>
    <p:sldId xmlns:r="http://schemas.openxmlformats.org/officeDocument/2006/relationships" id="265" r:id="Rdfef7da29ee44a12"/>
    <p:sldId xmlns:r="http://schemas.openxmlformats.org/officeDocument/2006/relationships" id="266" r:id="R560fb0764f6f45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0a9527712b47a5" /><Relationship Type="http://schemas.openxmlformats.org/officeDocument/2006/relationships/slideMaster" Target="/ppt/slideMasters/slideMaster1.xml" Id="R75b3833a51f34332" /><Relationship Type="http://schemas.openxmlformats.org/officeDocument/2006/relationships/notesMaster" Target="/ppt/notesMasters/notesMaster1.xml" Id="R003c5f6e8a9e4bc2" /><Relationship Type="http://schemas.openxmlformats.org/officeDocument/2006/relationships/presProps" Target="/ppt/presProps.xml" Id="R7a7f545a01644690" /><Relationship Type="http://schemas.openxmlformats.org/officeDocument/2006/relationships/tableStyles" Target="/ppt/tableStyles.xml" Id="R3beac46d73ac4b7d" /><Relationship Type="http://schemas.openxmlformats.org/officeDocument/2006/relationships/slide" Target="/ppt/slides/slide1.xml" Id="R49c64d175072424e" /><Relationship Type="http://schemas.openxmlformats.org/officeDocument/2006/relationships/slide" Target="/ppt/slides/slide2.xml" Id="Rf4be5330a8a44dc5" /><Relationship Type="http://schemas.openxmlformats.org/officeDocument/2006/relationships/slide" Target="/ppt/slides/slide3.xml" Id="R5c1f02f1c32741b7" /><Relationship Type="http://schemas.openxmlformats.org/officeDocument/2006/relationships/slide" Target="/ppt/slides/slide4.xml" Id="R9dbfe95355404837" /><Relationship Type="http://schemas.openxmlformats.org/officeDocument/2006/relationships/slide" Target="/ppt/slides/slide5.xml" Id="R3b7d4f4937494957" /><Relationship Type="http://schemas.openxmlformats.org/officeDocument/2006/relationships/slide" Target="/ppt/slides/slide6.xml" Id="Rb76d57829bdf4188" /><Relationship Type="http://schemas.openxmlformats.org/officeDocument/2006/relationships/slide" Target="/ppt/slides/slide7.xml" Id="R38126315942042d4" /><Relationship Type="http://schemas.openxmlformats.org/officeDocument/2006/relationships/slide" Target="/ppt/slides/slide8.xml" Id="Rde68bfed1ac64d59" /><Relationship Type="http://schemas.openxmlformats.org/officeDocument/2006/relationships/slide" Target="/ppt/slides/slide9.xml" Id="R65919e3b739e4859" /><Relationship Type="http://schemas.openxmlformats.org/officeDocument/2006/relationships/slide" Target="/ppt/slides/slide10.xml" Id="Rdfef7da29ee44a12" /><Relationship Type="http://schemas.openxmlformats.org/officeDocument/2006/relationships/slide" Target="/ppt/slides/slide11.xml" Id="R560fb0764f6f45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29916ac3594c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5678b7d68e438f" /><Relationship Type="http://schemas.openxmlformats.org/officeDocument/2006/relationships/notesMaster" Target="/ppt/notesMasters/notesMaster1.xml" Id="R4f38c7b6366a4f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1730d9ec4b4168" /><Relationship Type="http://schemas.openxmlformats.org/officeDocument/2006/relationships/notesMaster" Target="/ppt/notesMasters/notesMaster1.xml" Id="R8dcf0c68dfc449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21c7aa5efc4e0f" /><Relationship Type="http://schemas.openxmlformats.org/officeDocument/2006/relationships/notesMaster" Target="/ppt/notesMasters/notesMaster1.xml" Id="R74a23f47559a45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7c84710b4442d4" /><Relationship Type="http://schemas.openxmlformats.org/officeDocument/2006/relationships/notesMaster" Target="/ppt/notesMasters/notesMaster1.xml" Id="Rd905d532e01449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f4d6a82ce940f1" /><Relationship Type="http://schemas.openxmlformats.org/officeDocument/2006/relationships/notesMaster" Target="/ppt/notesMasters/notesMaster1.xml" Id="Rb0464cb3844e44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66ca5de0a5401d" /><Relationship Type="http://schemas.openxmlformats.org/officeDocument/2006/relationships/notesMaster" Target="/ppt/notesMasters/notesMaster1.xml" Id="R00dfdf29e8e04b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57f694a5334e9b" /><Relationship Type="http://schemas.openxmlformats.org/officeDocument/2006/relationships/notesMaster" Target="/ppt/notesMasters/notesMaster1.xml" Id="R47e4c8db590447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02f3ce14134693" /><Relationship Type="http://schemas.openxmlformats.org/officeDocument/2006/relationships/notesMaster" Target="/ppt/notesMasters/notesMaster1.xml" Id="Ra9574b06034041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738b497668414c" /><Relationship Type="http://schemas.openxmlformats.org/officeDocument/2006/relationships/notesMaster" Target="/ppt/notesMasters/notesMaster1.xml" Id="R66b1f83f2d5c41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851102bc274f06" /><Relationship Type="http://schemas.openxmlformats.org/officeDocument/2006/relationships/notesMaster" Target="/ppt/notesMasters/notesMaster1.xml" Id="R4f07b1afa0c141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5954421b614db2" /><Relationship Type="http://schemas.openxmlformats.org/officeDocument/2006/relationships/notesMaster" Target="/ppt/notesMasters/notesMaster1.xml" Id="R1b734e66cf584e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this is a live, evidence-traceable SOC decision layer, not a static dashboard.</a:t>
            </a:r>
          </a:p>
          <a:p xmlns:a="http://schemas.openxmlformats.org/drawingml/2006/main">
            <a:r>
              <a:t>The two engines detect behavior and predict/attribute attacker activity; a shared spine turns those outputs into a graph and gated response.</a:t>
            </a:r>
          </a:p>
          <a:p xmlns:a="http://schemas.openxmlformats.org/drawingml/2006/main">
            <a:r>
              <a:t>Visual: generated specifically for this deck; no factual content is encoded in the illustration.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paraphrases the official PS7 challenge. The only short direct phrase is ‘weeks to hours.’</a:t>
            </a:r>
          </a:p>
          <a:p xmlns:a="http://schemas.openxmlformats.org/drawingml/2006/main">
            <a:r>
              <a:t>The five optional build areas in the brief are illustrative, not mandatory. We selected anomaly detection, APT prediction/attribution, response orchestration, and attack-path modeling.</a:t>
            </a:r>
          </a:p>
          <a:p xmlns:a="http://schemas.openxmlformats.org/drawingml/2006/main">
            <a:r>
              <a:t>Source: 6a38ce305640d_ET_AI_Hackathon_2026_Problem_Statements.pdf, pages 14-15.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judge traceability slide: every core verb in the challenge has a corresponding component and evidence.</a:t>
            </a:r>
          </a:p>
          <a:p xmlns:a="http://schemas.openxmlformats.org/drawingml/2006/main">
            <a:r>
              <a:t>Be explicit that live OT connectors and vulnerability prioritization are not shipped. The brief labels its five example build areas as illustrative only.</a:t>
            </a:r>
          </a:p>
          <a:p xmlns:a="http://schemas.openxmlformats.org/drawingml/2006/main">
            <a:r>
              <a:t>Live campaign verification: 2,732 events, 1,192 alerts, 104 accounts, 479 nodes, 502 edges.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invention of IsolationForest, MiniLM, Markov chains, or NetworkX metrics. The novelty is the integrated, auditable decision loop.</a:t>
            </a:r>
          </a:p>
          <a:p xmlns:a="http://schemas.openxmlformats.org/drawingml/2006/main">
            <a:r>
              <a:t>The model-selection evidence is reproducible: Markov top-3 36.54%, LSTM 27.2%, kill-chain baseline 7.05%.</a:t>
            </a:r>
          </a:p>
          <a:p xmlns:a="http://schemas.openxmlformats.org/drawingml/2006/main">
            <a:r>
              <a:t>The response layer is deliberately gated and simulated, which is a safety feature for the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top to bottom. Datasets and threat knowledge feed two separate engines. Both engines feed one per-request spine.</a:t>
            </a:r>
          </a:p>
          <a:p xmlns:a="http://schemas.openxmlformats.org/drawingml/2006/main">
            <a:r>
              <a:t>The frontend has nine operational routes plus the login splash; older documentation says eight, but App.jsx and Sidebar.jsx show nine.</a:t>
            </a:r>
          </a:p>
          <a:p xmlns:a="http://schemas.openxmlformats.org/drawingml/2006/main">
            <a:r>
              <a:t>The runtime uses precomputed embeddings and slim dependencies; no Torch is required for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CICIDS experiment: 2,094,130 processed flows; time split by day; train is benign-only; test includes unseen attack families.</a:t>
            </a:r>
          </a:p>
          <a:p xmlns:a="http://schemas.openxmlformats.org/drawingml/2006/main">
            <a:r>
              <a:t>The PR-AUC chart compares like-for-like metrics. Do not mix the LANL ROC-AUC values into this chart.</a:t>
            </a:r>
          </a:p>
          <a:p xmlns:a="http://schemas.openxmlformats.org/drawingml/2006/main">
            <a:r>
              <a:t>LANL official dataset source: https://csr.lanl.gov/data/cyber1/</a:t>
            </a:r>
          </a:p>
          <a:p xmlns:a="http://schemas.openxmlformats.org/drawingml/2006/main">
            <a:r>
              <a:t>Caveat: at 1% FPR, TPR is 51.4%; at 5% FPR it is 96.9%. The project therefore uses correlation as a second layer.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reproducible baseline rerun gives Markov 36.54% top-3 and kill-chain 7.05%, a 5.18x lift. Use 36.5% and 5.2x.</a:t>
            </a:r>
          </a:p>
          <a:p xmlns:a="http://schemas.openxmlformats.org/drawingml/2006/main">
            <a:r>
              <a:t>The full sequence corpus has 622 techniques; the training vocabulary used for prediction has 566.</a:t>
            </a:r>
          </a:p>
          <a:p xmlns:a="http://schemas.openxmlformats.org/drawingml/2006/main">
            <a:r>
              <a:t>Attribution is retrieval over public ATT&amp;CK group profiles, not a trained classifier. The 100% self-retrieval evaluation is intentionally not headlined as independent accuracy.</a:t>
            </a:r>
          </a:p>
          <a:p xmlns:a="http://schemas.openxmlformats.org/drawingml/2006/main">
            <a:r>
              <a:t>The four manual sequences contain only 30 prediction points and six OOV next techniques; 10% is a caveat, not a headline.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pipeline runs once per request and returns one bundle consumed by every screen. The cached sample is generated through the same function.</a:t>
            </a:r>
          </a:p>
          <a:p xmlns:a="http://schemas.openxmlformats.org/drawingml/2006/main">
            <a:r>
              <a:t>SSE is a paced replay of already-computed real scores; it is not yet a true incremental streaming inference engine.</a:t>
            </a:r>
          </a:p>
          <a:p xmlns:a="http://schemas.openxmlformats.org/drawingml/2006/main">
            <a:r>
              <a:t>The campaign graph has 479 nodes and 502 unique host-pair edges. The current default critical assets are a documented heuristic, not LANL ground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used Miniconda scikit-learn 1.9.0 to load models serialized with 1.7.2, producing compatibility warnings; 29 tests still passed. Deployment requirements pin 1.7.2.</a:t>
            </a:r>
          </a:p>
          <a:p xmlns:a="http://schemas.openxmlformats.org/drawingml/2006/main">
            <a:r>
              <a:t>Frontend Vite build completed successfully.</a:t>
            </a:r>
          </a:p>
          <a:p xmlns:a="http://schemas.openxmlformats.org/drawingml/2006/main">
            <a:r>
              <a:t>The 463 figure is graph descendants of C17693, while 475 is total exposure across all four pivots. Do not say isolation cuts all 475.</a:t>
            </a:r>
          </a:p>
          <a:p xmlns:a="http://schemas.openxmlformats.org/drawingml/2006/main">
            <a:r>
              <a:t>Latest industry source used here: https://cloud.google.com/blog/topics/threat-intelligence/m-trends-2025/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 is operational hardening, not new AI. Phase 2 directly covers the optional vulnerability-prioritization track and the brief’s IT/OT ambition.</a:t>
            </a:r>
          </a:p>
          <a:p xmlns:a="http://schemas.openxmlformats.org/drawingml/2006/main">
            <a:r>
              <a:t>Phase 3 introduces real action connectors only after approval, audit and monitoring foundations exist.</a:t>
            </a:r>
          </a:p>
          <a:p xmlns:a="http://schemas.openxmlformats.org/drawingml/2006/main">
            <a:r>
              <a:t>Phase 4 grows the current attack-path graph into a true cyber-resilience digital twin.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Comparison reflects public vendor positioning reviewed 19 July 2026 and avoids claiming that a non-highlighted capability is absent.</a:t>
            </a:r>
          </a:p>
          <a:p xmlns:a="http://schemas.openxmlformats.org/drawingml/2006/main">
            <a:r>
              <a:t>Microsoft Sentinel UEBA: https://learn.microsoft.com/en-us/azure/sentinel/identify-threats-with-entity-behavior-analytics</a:t>
            </a:r>
          </a:p>
          <a:p xmlns:a="http://schemas.openxmlformats.org/drawingml/2006/main">
            <a:r>
              <a:t>Microsoft Sentinel playbooks: https://learn.microsoft.com/en-us/azure/sentinel/automation/create-playbooks</a:t>
            </a:r>
          </a:p>
          <a:p xmlns:a="http://schemas.openxmlformats.org/drawingml/2006/main">
            <a:r>
              <a:t>Splunk RBA: https://www.splunk.com/en_us/resources/risk-based-alerting-feature-brief.html</a:t>
            </a:r>
          </a:p>
          <a:p xmlns:a="http://schemas.openxmlformats.org/drawingml/2006/main">
            <a:r>
              <a:t>Splunk SOAR: https://www.splunk.com/en_us/products/splunk-security-orchestration-and-automation.html</a:t>
            </a:r>
          </a:p>
          <a:p xmlns:a="http://schemas.openxmlformats.org/drawingml/2006/main">
            <a:r>
              <a:t>Darktrace platform / AI Analyst: https://www.darktrace.com/platform and https://www.darktrace.com/cyber-ai-analyst</a:t>
            </a:r>
          </a:p>
          <a:p xmlns:a="http://schemas.openxmlformats.org/drawingml/2006/main">
            <a:r>
              <a:t>CrowdStrike Next-Gen SIEM: https://www.crowdstrike.com/en-us/platform/next-gen-siem/</a:t>
            </a:r>
          </a:p>
          <a:p xmlns:a="http://schemas.openxmlformats.org/drawingml/2006/main">
            <a:r>
              <a:t>Key message: do not claim greater maturity. Claim a transparent, locally verifiable, next-technique decision loop designed around the hackathon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981f419c647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982577871d4b99" /><Relationship Type="http://schemas.openxmlformats.org/officeDocument/2006/relationships/slideLayout" Target="/ppt/slideLayouts/slideLayout1.xml" Id="Rb6863b02a1b64c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863b02a1b64c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a2ba81f5d4248" /><Relationship Type="http://schemas.openxmlformats.org/officeDocument/2006/relationships/image" Target="/ppt/media/image.png" Id="R61aaff9f8c8c4a42" /><Relationship Type="http://schemas.openxmlformats.org/officeDocument/2006/relationships/notesSlide" Target="/ppt/notesSlides/notesSlide1.xml" Id="R6ceb01c982014d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f20303c0a4024" /><Relationship Type="http://schemas.openxmlformats.org/officeDocument/2006/relationships/notesSlide" Target="/ppt/notesSlides/notesSlide2.xml" Id="Rde0f40d6f8f24c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29c04dadd4c2d" /><Relationship Type="http://schemas.openxmlformats.org/officeDocument/2006/relationships/notesSlide" Target="/ppt/notesSlides/notesSlide3.xml" Id="R6e0596e67f8146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7acc2ad1f4cbf" /><Relationship Type="http://schemas.openxmlformats.org/officeDocument/2006/relationships/notesSlide" Target="/ppt/notesSlides/notesSlide4.xml" Id="Ra5c3374e641046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7bea8db054b68" /><Relationship Type="http://schemas.openxmlformats.org/officeDocument/2006/relationships/notesSlide" Target="/ppt/notesSlides/notesSlide5.xml" Id="Rb1bc5768544a4b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536b11b014c9c" /><Relationship Type="http://schemas.openxmlformats.org/officeDocument/2006/relationships/chart" Target="/ppt/slides/charts/chart1.xml" Id="R60564f5f84dc4000" /><Relationship Type="http://schemas.openxmlformats.org/officeDocument/2006/relationships/notesSlide" Target="/ppt/notesSlides/notesSlide6.xml" Id="R74d4a1ed80274f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37fffae3540f7" /><Relationship Type="http://schemas.openxmlformats.org/officeDocument/2006/relationships/chart" Target="/ppt/slides/charts/chart2.xml" Id="R169ade942d0546f7" /><Relationship Type="http://schemas.openxmlformats.org/officeDocument/2006/relationships/notesSlide" Target="/ppt/notesSlides/notesSlide7.xml" Id="R55cc2fcd88e740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f68f7274a4d61" /><Relationship Type="http://schemas.openxmlformats.org/officeDocument/2006/relationships/notesSlide" Target="/ppt/notesSlides/notesSlide8.xml" Id="R415a2446f08c41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1191718d540d9" /><Relationship Type="http://schemas.openxmlformats.org/officeDocument/2006/relationships/notesSlide" Target="/ppt/notesSlides/notesSlide9.xml" Id="Rb2a4b5bae6e343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2a1984639499f" /><Relationship Type="http://schemas.openxmlformats.org/officeDocument/2006/relationships/notesSlide" Target="/ppt/notesSlides/notesSlide10.xml" Id="R0c62013f7b2f48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01a16155a4f7d" /><Relationship Type="http://schemas.openxmlformats.org/officeDocument/2006/relationships/notesSlide" Target="/ppt/notesSlides/notesSlide11.xml" Id="R6114c11ab05742db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00000"/>
                </a:solidFill>
              </a:rPr>
              <a:t>CIC-IDS2017 test PR-AUC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000000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PR-AUC</c:v>
          </c:tx>
          <c:spPr>
            <a:solidFill xmlns:a="http://schemas.openxmlformats.org/drawingml/2006/main">
              <a:srgbClr val="6DCBF4"/>
            </a:solidFill>
          </c:spPr>
          <c:dPt>
            <c:idx val="0"/>
            <c:spPr>
              <a:solidFill xmlns:a="http://schemas.openxmlformats.org/drawingml/2006/main">
                <a:srgbClr val="B8BCC4"/>
              </a:solidFill>
            </c:spPr>
          </c:dPt>
          <c:dPt>
            <c:idx val="1"/>
            <c:spPr>
              <a:solidFill xmlns:a="http://schemas.openxmlformats.org/drawingml/2006/main">
                <a:srgbClr val="B8BCC4"/>
              </a:solidFill>
            </c:spPr>
          </c:dPt>
          <c:dPt>
            <c:idx val="2"/>
            <c:spPr>
              <a:solidFill xmlns:a="http://schemas.openxmlformats.org/drawingml/2006/main">
                <a:srgbClr val="6DCBF4"/>
              </a:solidFill>
            </c:spPr>
          </c:dPt>
          <c:dPt>
            <c:idx val="3"/>
            <c:spPr>
              <a:solidFill xmlns:a="http://schemas.openxmlformats.org/drawingml/2006/main">
                <a:srgbClr val="3D8DFF"/>
              </a:solidFill>
            </c:spPr>
          </c:dPt>
          <c:cat>
            <c:strLit>
              <c:ptCount val="4"/>
              <c:pt idx="0">
                <c:v>Random</c:v>
              </c:pt>
              <c:pt idx="1">
                <c:v>Rate rule</c:v>
              </c:pt>
              <c:pt idx="2">
                <c:v>IsolationForest</c:v>
              </c:pt>
              <c:pt idx="3">
                <c:v>Autoencoder</c:v>
              </c:pt>
            </c:strLit>
          </c:cat>
          <c:val>
            <c:numLit>
              <c:formatCode>0.0%</c:formatCode>
              <c:ptCount val="4"/>
              <c:pt idx="0">
                <c:v>0.1547</c:v>
              </c:pt>
              <c:pt idx="1">
                <c:v>0.0978</c:v>
              </c:pt>
              <c:pt idx="2">
                <c:v>0.473</c:v>
              </c:pt>
              <c:pt idx="3">
                <c:v>0.5696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00000"/>
                </a:solidFill>
              </a:rPr>
              <a:t>Held-out next-technique top-3 accuracy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000000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Top-3</c:v>
          </c:tx>
          <c:spPr>
            <a:solidFill xmlns:a="http://schemas.openxmlformats.org/drawingml/2006/main">
              <a:srgbClr val="6DCBF4"/>
            </a:solidFill>
          </c:spPr>
          <c:dPt>
            <c:idx val="0"/>
            <c:spPr>
              <a:solidFill xmlns:a="http://schemas.openxmlformats.org/drawingml/2006/main">
                <a:srgbClr val="B8BCC4"/>
              </a:solidFill>
            </c:spPr>
          </c:dPt>
          <c:dPt>
            <c:idx val="1"/>
            <c:spPr>
              <a:solidFill xmlns:a="http://schemas.openxmlformats.org/drawingml/2006/main">
                <a:srgbClr val="B8BCC4"/>
              </a:solidFill>
            </c:spPr>
          </c:dPt>
          <c:dPt>
            <c:idx val="2"/>
            <c:spPr>
              <a:solidFill xmlns:a="http://schemas.openxmlformats.org/drawingml/2006/main">
                <a:srgbClr val="6DCBF4"/>
              </a:solidFill>
            </c:spPr>
          </c:dPt>
          <c:dPt>
            <c:idx val="3"/>
            <c:spPr>
              <a:solidFill xmlns:a="http://schemas.openxmlformats.org/drawingml/2006/main">
                <a:srgbClr val="3D8DFF"/>
              </a:solidFill>
            </c:spPr>
          </c:dPt>
          <c:cat>
            <c:strLit>
              <c:ptCount val="4"/>
              <c:pt idx="0">
                <c:v>Most frequent</c:v>
              </c:pt>
              <c:pt idx="1">
                <c:v>Kill-chain order</c:v>
              </c:pt>
              <c:pt idx="2">
                <c:v>LSTM</c:v>
              </c:pt>
              <c:pt idx="3">
                <c:v>Markov</c:v>
              </c:pt>
            </c:strLit>
          </c:cat>
          <c:val>
            <c:numLit>
              <c:formatCode>0.0%</c:formatCode>
              <c:ptCount val="4"/>
              <c:pt idx="0">
                <c:v>0.0487</c:v>
              </c:pt>
              <c:pt idx="1">
                <c:v>0.0705</c:v>
              </c:pt>
              <c:pt idx="2">
                <c:v>0.272</c:v>
              </c:pt>
              <c:pt idx="3">
                <c:v>0.3654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aff9f8c8c4a4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copy-panel-bg">
            <a:extLst xmlns:a="http://schemas.openxmlformats.org/drawingml/2006/main">
              <a:ext uri="{FF2B5EF4-FFF2-40B4-BE49-F238E27FC236}">
                <a16:creationId xmlns:a16="http://schemas.microsoft.com/office/drawing/2014/main" id="{70F4205C-204A-490B-BAA8-B9B015AF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804AD64-29EE-4FFD-8686-AD360B39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ET AI HACKATHON 2026  /  PROBLEM STATEMENT 7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81D4306-EE55-4467-8DD3-848F3A59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Resilience Graph AI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3DD3743-65B1-49F6-B2BA-C4F20458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Behavior-first cyber resilience for</a:t>
            </a:r>
          </a:p>
          <a:p xmlns:a="http://schemas.openxmlformats.org/drawingml/2006/main">
            <a: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critical national infrastructure</a:t>
            </a:r>
          </a:p>
        </p:txBody>
      </p:sp>
      <p:sp>
        <p:nvSpPr>
          <p:cNvPr id="6" name="cover-loop">
            <a:extLst xmlns:a="http://schemas.openxmlformats.org/drawingml/2006/main">
              <a:ext uri="{FF2B5EF4-FFF2-40B4-BE49-F238E27FC236}">
                <a16:creationId xmlns:a16="http://schemas.microsoft.com/office/drawing/2014/main" id="{35477389-86EE-4B85-B68F-65D5DC18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DETECT   →   EXPLAIN   →   ANTICIPATE   →   CONTAIN</a:t>
            </a:r>
          </a:p>
        </p:txBody>
      </p:sp>
      <p:sp>
        <p:nvSpPr>
          <p:cNvPr id="7" name="cover-proof">
            <a:extLst xmlns:a="http://schemas.openxmlformats.org/drawingml/2006/main">
              <a:ext uri="{FF2B5EF4-FFF2-40B4-BE49-F238E27FC236}">
                <a16:creationId xmlns:a16="http://schemas.microsoft.com/office/drawing/2014/main" id="{384A765B-9481-400F-AB43-856854BD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1050"/>
            <a:ext cx="5095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A working FastAPI + React prototype with two evaluated AI engines,</a:t>
            </a:r>
          </a:p>
          <a:p xmlns:a="http://schemas.openxmlformats.org/drawingml/2006/main">
            <a:pPr algn="l">
              <a:defRPr sz="135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an explainable ATT&amp;CK graph, and human-gated response.</a:t>
            </a:r>
          </a:p>
        </p:txBody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24ADC400-5432-4017-AE2A-962A893E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Technical pitch deck  •  Verified 19 July 2026</a:t>
            </a:r>
          </a:p>
        </p:txBody>
      </p:sp>
    </p:spTree>
    <p:extLst>
      <p:ext uri="{BB962C8B-B14F-4D97-AF65-F5344CB8AC3E}">
        <p14:creationId xmlns:p14="http://schemas.microsoft.com/office/powerpoint/2010/main" val="467902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5A1E45C8-78CA-4A13-BDC2-BDD4FEAA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858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FBC4E54D-AACD-4A8C-9CBF-C01DE883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81125"/>
            <a:ext cx="4114800" cy="47625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problem-quote">
            <a:extLst xmlns:a="http://schemas.openxmlformats.org/drawingml/2006/main">
              <a:ext uri="{FF2B5EF4-FFF2-40B4-BE49-F238E27FC236}">
                <a16:creationId xmlns:a16="http://schemas.microsoft.com/office/drawing/2014/main" id="{AA298227-EDD4-46FF-AF6C-1E5A289A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7C71A4A-1A3F-4583-A86C-BE1D6C6B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PS7 asks for behavior-first cyber resilience</a:t>
            </a:r>
          </a:p>
        </p:txBody>
      </p:sp>
      <p:sp>
        <p:nvSpPr>
          <p:cNvPr id="5" name="slide-2-accent">
            <a:extLst xmlns:a="http://schemas.openxmlformats.org/drawingml/2006/main">
              <a:ext uri="{FF2B5EF4-FFF2-40B4-BE49-F238E27FC236}">
                <a16:creationId xmlns:a16="http://schemas.microsoft.com/office/drawing/2014/main" id="{5BA9C311-3650-406A-82D8-66732C8A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2-source">
            <a:extLst xmlns:a="http://schemas.openxmlformats.org/drawingml/2006/main">
              <a:ext uri="{FF2B5EF4-FFF2-40B4-BE49-F238E27FC236}">
                <a16:creationId xmlns:a16="http://schemas.microsoft.com/office/drawing/2014/main" id="{53E17F84-0408-486A-A861-2B05590C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Source: official ET AI Hackathon 2026 PS7 brief, pp. 14-15.</a:t>
            </a:r>
          </a:p>
        </p:txBody>
      </p:sp>
      <p:sp>
        <p:nvSpPr>
          <p:cNvPr id="7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B0473EAE-D3AE-4A27-98FA-F5566737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4E8F8544-1333-4C56-9A7C-52E3123B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52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Low-and-slow APTs evade signatures; fragmented signals delay a coherent response.</a:t>
            </a:r>
          </a:p>
        </p:txBody>
      </p:sp>
      <p:sp>
        <p:nvSpPr>
          <p:cNvPr id="9" name="problem-official">
            <a:extLst xmlns:a="http://schemas.openxmlformats.org/drawingml/2006/main">
              <a:ext uri="{FF2B5EF4-FFF2-40B4-BE49-F238E27FC236}">
                <a16:creationId xmlns:a16="http://schemas.microsoft.com/office/drawing/2014/main" id="{2D26642A-0C37-4F43-BB68-C7DE4C91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OFFICIAL CHALLENGE</a:t>
            </a:r>
          </a:p>
        </p:txBody>
      </p:sp>
      <p:sp>
        <p:nvSpPr>
          <p:cNvPr id="10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A906B818-ECBD-492A-BA46-4544C54E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problem-ask-0">
            <a:extLst xmlns:a="http://schemas.openxmlformats.org/drawingml/2006/main">
              <a:ext uri="{FF2B5EF4-FFF2-40B4-BE49-F238E27FC236}">
                <a16:creationId xmlns:a16="http://schemas.microsoft.com/office/drawing/2014/main" id="{9A6E02A0-03E9-4B30-A2AB-7842F20D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48050"/>
            <a:ext cx="538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 behavioural anomalies autonomously</a:t>
            </a:r>
          </a:p>
        </p:txBody>
      </p:sp>
      <p:sp>
        <p:nvSpPr>
          <p:cNvPr id="12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5D9B98F4-273C-40CD-B72A-95D582A7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problem-ask-1">
            <a:extLst xmlns:a="http://schemas.openxmlformats.org/drawingml/2006/main">
              <a:ext uri="{FF2B5EF4-FFF2-40B4-BE49-F238E27FC236}">
                <a16:creationId xmlns:a16="http://schemas.microsoft.com/office/drawing/2014/main" id="{4B62F64E-D089-4C5C-8130-7484EBBB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14775"/>
            <a:ext cx="538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Correlate weak signals across heterogeneous IT and OT</a:t>
            </a:r>
          </a:p>
        </p:txBody>
      </p:sp>
      <p:sp>
        <p:nvSpPr>
          <p:cNvPr id="14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C6F24891-E752-4E36-808C-5BFFA404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problem-ask-2">
            <a:extLst xmlns:a="http://schemas.openxmlformats.org/drawingml/2006/main">
              <a:ext uri="{FF2B5EF4-FFF2-40B4-BE49-F238E27FC236}">
                <a16:creationId xmlns:a16="http://schemas.microsoft.com/office/drawing/2014/main" id="{A07DA625-8BE3-4399-B42C-B75D909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81500"/>
            <a:ext cx="538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Map attack progression to known threat frameworks</a:t>
            </a:r>
          </a:p>
        </p:txBody>
      </p:sp>
      <p:sp>
        <p:nvSpPr>
          <p:cNvPr id="16" name="problem-num-3">
            <a:extLst xmlns:a="http://schemas.openxmlformats.org/drawingml/2006/main">
              <a:ext uri="{FF2B5EF4-FFF2-40B4-BE49-F238E27FC236}">
                <a16:creationId xmlns:a16="http://schemas.microsoft.com/office/drawing/2014/main" id="{D44DD44A-1186-442D-ADD6-9F6FBEA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244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problem-ask-3">
            <a:extLst xmlns:a="http://schemas.openxmlformats.org/drawingml/2006/main">
              <a:ext uri="{FF2B5EF4-FFF2-40B4-BE49-F238E27FC236}">
                <a16:creationId xmlns:a16="http://schemas.microsoft.com/office/drawing/2014/main" id="{F07B8D00-8D3E-4A4B-98B4-9E10DCBB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48225"/>
            <a:ext cx="538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Orchestrate containment with human escalation gates</a:t>
            </a:r>
          </a:p>
        </p:txBody>
      </p:sp>
      <p:sp>
        <p:nvSpPr>
          <p:cNvPr id="18" name="problem-num-4">
            <a:extLst xmlns:a="http://schemas.openxmlformats.org/drawingml/2006/main">
              <a:ext uri="{FF2B5EF4-FFF2-40B4-BE49-F238E27FC236}">
                <a16:creationId xmlns:a16="http://schemas.microsoft.com/office/drawing/2014/main" id="{27115DAF-3AAF-4A84-A414-BFA38F62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problem-ask-4">
            <a:extLst xmlns:a="http://schemas.openxmlformats.org/drawingml/2006/main">
              <a:ext uri="{FF2B5EF4-FFF2-40B4-BE49-F238E27FC236}">
                <a16:creationId xmlns:a16="http://schemas.microsoft.com/office/drawing/2014/main" id="{5044DB66-AFDD-454F-93A6-17A4428D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14950"/>
            <a:ext cx="538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Compress compromise-to-response from ‘weeks to hours’</a:t>
            </a:r>
          </a:p>
        </p:txBody>
      </p:sp>
      <p:sp>
        <p:nvSpPr>
          <p:cNvPr id="20" name="eval-heading">
            <a:extLst xmlns:a="http://schemas.openxmlformats.org/drawingml/2006/main">
              <a:ext uri="{FF2B5EF4-FFF2-40B4-BE49-F238E27FC236}">
                <a16:creationId xmlns:a16="http://schemas.microsoft.com/office/drawing/2014/main" id="{B8980C85-A261-4186-B133-6E464865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95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JUDGES WILL LOOK FOR</a:t>
            </a:r>
          </a:p>
        </p:txBody>
      </p:sp>
      <p:sp>
        <p:nvSpPr>
          <p:cNvPr id="21" name="eval-0-title">
            <a:extLst xmlns:a="http://schemas.openxmlformats.org/drawingml/2006/main">
              <a:ext uri="{FF2B5EF4-FFF2-40B4-BE49-F238E27FC236}">
                <a16:creationId xmlns:a16="http://schemas.microsoft.com/office/drawing/2014/main" id="{BA7B4B8C-6EA5-4237-8D12-B7EF7FFC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431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Detection quality</a:t>
            </a:r>
          </a:p>
        </p:txBody>
      </p:sp>
      <p:sp>
        <p:nvSpPr>
          <p:cNvPr id="22" name="eval-0-body">
            <a:extLst xmlns:a="http://schemas.openxmlformats.org/drawingml/2006/main">
              <a:ext uri="{FF2B5EF4-FFF2-40B4-BE49-F238E27FC236}">
                <a16:creationId xmlns:a16="http://schemas.microsoft.com/office/drawing/2014/main" id="{BF446B4B-BC3E-48C4-9C9D-F3AA46ED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098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Rate + false-positive rate on benchmarks</a:t>
            </a:r>
          </a:p>
        </p:txBody>
      </p:sp>
      <p:sp>
        <p:nvSpPr>
          <p:cNvPr id="23" name="eval-1-title">
            <a:extLst xmlns:a="http://schemas.openxmlformats.org/drawingml/2006/main">
              <a:ext uri="{FF2B5EF4-FFF2-40B4-BE49-F238E27FC236}">
                <a16:creationId xmlns:a16="http://schemas.microsoft.com/office/drawing/2014/main" id="{D80DB984-A8D3-422A-A587-C77DC9D2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860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Technique-level attribution</a:t>
            </a:r>
          </a:p>
        </p:txBody>
      </p:sp>
      <p:sp>
        <p:nvSpPr>
          <p:cNvPr id="24" name="eval-1-body">
            <a:extLst xmlns:a="http://schemas.openxmlformats.org/drawingml/2006/main">
              <a:ext uri="{FF2B5EF4-FFF2-40B4-BE49-F238E27FC236}">
                <a16:creationId xmlns:a16="http://schemas.microsoft.com/office/drawing/2014/main" id="{942A47C7-B1DA-4ACA-BAFE-AD1AC37D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52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Grounded in MITRE ATT&amp;CK evidence</a:t>
            </a:r>
          </a:p>
        </p:txBody>
      </p:sp>
      <p:sp>
        <p:nvSpPr>
          <p:cNvPr id="25" name="eval-2-title">
            <a:extLst xmlns:a="http://schemas.openxmlformats.org/drawingml/2006/main">
              <a:ext uri="{FF2B5EF4-FFF2-40B4-BE49-F238E27FC236}">
                <a16:creationId xmlns:a16="http://schemas.microsoft.com/office/drawing/2014/main" id="{66FF5CDF-13BA-42E2-943B-6ACE9B33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290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Automation coverage</a:t>
            </a:r>
          </a:p>
        </p:txBody>
      </p:sp>
      <p:sp>
        <p:nvSpPr>
          <p:cNvPr id="26" name="eval-2-body">
            <a:extLst xmlns:a="http://schemas.openxmlformats.org/drawingml/2006/main">
              <a:ext uri="{FF2B5EF4-FFF2-40B4-BE49-F238E27FC236}">
                <a16:creationId xmlns:a16="http://schemas.microsoft.com/office/drawing/2014/main" id="{672F5C3D-8C6C-4C1C-809D-B05075BB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957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What can run safely without an analyst</a:t>
            </a:r>
          </a:p>
        </p:txBody>
      </p:sp>
      <p:sp>
        <p:nvSpPr>
          <p:cNvPr id="27" name="eval-3-title">
            <a:extLst xmlns:a="http://schemas.openxmlformats.org/drawingml/2006/main">
              <a:ext uri="{FF2B5EF4-FFF2-40B4-BE49-F238E27FC236}">
                <a16:creationId xmlns:a16="http://schemas.microsoft.com/office/drawing/2014/main" id="{E398F3C0-0B38-4DFC-AA40-867FF836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719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MTTD / MTTR improvement</a:t>
            </a:r>
          </a:p>
        </p:txBody>
      </p:sp>
      <p:sp>
        <p:nvSpPr>
          <p:cNvPr id="28" name="eval-3-body">
            <a:extLst xmlns:a="http://schemas.openxmlformats.org/drawingml/2006/main">
              <a:ext uri="{FF2B5EF4-FFF2-40B4-BE49-F238E27FC236}">
                <a16:creationId xmlns:a16="http://schemas.microsoft.com/office/drawing/2014/main" id="{F5130323-4D4F-4F6E-8B00-DA0EB1CE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38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Compared with a baseline SOC</a:t>
            </a:r>
          </a:p>
        </p:txBody>
      </p:sp>
      <p:sp>
        <p:nvSpPr>
          <p:cNvPr id="29" name="eval-4-title">
            <a:extLst xmlns:a="http://schemas.openxmlformats.org/drawingml/2006/main">
              <a:ext uri="{FF2B5EF4-FFF2-40B4-BE49-F238E27FC236}">
                <a16:creationId xmlns:a16="http://schemas.microsoft.com/office/drawing/2014/main" id="{3266CB62-F29B-4108-BFA4-F8CBC263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149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auditability</a:t>
            </a:r>
          </a:p>
        </p:txBody>
      </p:sp>
      <p:sp>
        <p:nvSpPr>
          <p:cNvPr id="30" name="eval-4-body">
            <a:extLst xmlns:a="http://schemas.openxmlformats.org/drawingml/2006/main">
              <a:ext uri="{FF2B5EF4-FFF2-40B4-BE49-F238E27FC236}">
                <a16:creationId xmlns:a16="http://schemas.microsoft.com/office/drawing/2014/main" id="{C92668F5-600F-48AE-AAEC-3481ABF8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816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Every automated action explainable</a:t>
            </a:r>
          </a:p>
        </p:txBody>
      </p:sp>
    </p:spTree>
    <p:extLst>
      <p:ext uri="{BB962C8B-B14F-4D97-AF65-F5344CB8AC3E}">
        <p14:creationId xmlns:p14="http://schemas.microsoft.com/office/powerpoint/2010/main" val="8810145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race-callout">
            <a:extLst xmlns:a="http://schemas.openxmlformats.org/drawingml/2006/main">
              <a:ext uri="{FF2B5EF4-FFF2-40B4-BE49-F238E27FC236}">
                <a16:creationId xmlns:a16="http://schemas.microsoft.com/office/drawing/2014/main" id="{350AF7A3-72D6-4D0B-8017-D0F807AA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77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0D8AEED-6C9C-4E6C-8A21-7D007942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core requirement maps to a shipped capability</a:t>
            </a:r>
          </a:p>
        </p:txBody>
      </p:sp>
      <p:sp>
        <p:nvSpPr>
          <p:cNvPr id="3" name="slide-3-accent">
            <a:extLst xmlns:a="http://schemas.openxmlformats.org/drawingml/2006/main">
              <a:ext uri="{FF2B5EF4-FFF2-40B4-BE49-F238E27FC236}">
                <a16:creationId xmlns:a16="http://schemas.microsoft.com/office/drawing/2014/main" id="{6AF2C07F-6786-44E2-85F0-1E680A50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3-source">
            <a:extLst xmlns:a="http://schemas.openxmlformats.org/drawingml/2006/main">
              <a:ext uri="{FF2B5EF4-FFF2-40B4-BE49-F238E27FC236}">
                <a16:creationId xmlns:a16="http://schemas.microsoft.com/office/drawing/2014/main" id="{C1FB9641-6B5B-496D-8BCC-CFCC6AA7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Sources: official PS7 brief; reports/metrics.json; live campaign rerun on 19 Jul 2026.</a:t>
            </a:r>
          </a:p>
        </p:txBody>
      </p:sp>
      <p:sp>
        <p:nvSpPr>
          <p:cNvPr id="5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72E8255C-3767-42A6-9065-56CB4930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1352550"/>
          <a:ext xmlns:a="http://schemas.openxmlformats.org/drawingml/2006/main" cx="11277600" cy="4305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095875"/>
                <a:gridCol w="4038600"/>
              </a:tblGrid>
              <a:tr h="717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PS7 requirement</a:t>
                      </a:r>
                    </a:p>
                  </a:txBody>
                  <a:tcPr marL="95250" marR="95250" marT="85725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What we built</a:t>
                      </a:r>
                    </a:p>
                  </a:txBody>
                  <a:tcPr marL="95250" marR="95250" marT="85725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Verified evidence / boundary</a:t>
                      </a:r>
                    </a:p>
                  </a:txBody>
                  <a:tcPr marL="95250" marR="95250" marT="85725" marB="76200">
                    <a:solidFill>
                      <a:srgbClr val="000000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Behavioral anomaly detection</a:t>
                      </a:r>
                    </a:p>
                  </a:txBody>
                  <a:tcPr marL="95250" marR="95250" marT="76200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Engine 1: benign-only IsolationForest / autoencoder on flow and authentication behavior</a:t>
                      </a:r>
                    </a:p>
                  </a:txBody>
                  <a:tcPr marL="95250" marR="95250" marT="76200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CICIDS PR-AUC 0.570; LANL ROC-AUC 0.988; UNSW ROC-AUC 0.829</a:t>
                      </a:r>
                    </a:p>
                  </a:txBody>
                  <a:tcPr marL="95250" marR="95250" marT="76200" marB="66675"/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Correlate weak signals</a:t>
                      </a:r>
                    </a:p>
                  </a:txBody>
                  <a:tcPr marL="95250" marR="95250" marT="76200" marB="66675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12-field schema + fixed scoring + one incident timeline across accounts and hosts</a:t>
                      </a:r>
                    </a:p>
                  </a:txBody>
                  <a:tcPr marL="95250" marR="95250" marT="76200" marB="66675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2,732 events → 1,192 alerts → one campaign across 104 accounts</a:t>
                      </a:r>
                    </a:p>
                  </a:txBody>
                  <a:tcPr marL="95250" marR="95250" marT="76200" marB="66675">
                    <a:solidFill>
                      <a:srgbClr val="F6F7F9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Map attack progression</a:t>
                      </a:r>
                    </a:p>
                  </a:txBody>
                  <a:tcPr marL="95250" marR="95250" marT="76200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Grounded ATT&amp;CK IDs/descriptions + directed host graph + choke-point analysis</a:t>
                      </a:r>
                    </a:p>
                  </a:txBody>
                  <a:tcPr marL="95250" marR="95250" marT="76200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918 techniques available; live graph = 479 nodes / 502 edges</a:t>
                      </a:r>
                    </a:p>
                  </a:txBody>
                  <a:tcPr marL="95250" marR="95250" marT="76200" marB="66675"/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Orchestrate containment</a:t>
                      </a:r>
                    </a:p>
                  </a:txBody>
                  <a:tcPr marL="95250" marR="95250" marT="76200" marB="66675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ATT&amp;CK mitigation lookup + severity / critical-asset policy + auditable actions</a:t>
                      </a:r>
                    </a:p>
                  </a:txBody>
                  <a:tcPr marL="95250" marR="95250" marT="76200" marB="66675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Simulation only; critical-asset actions require human approval</a:t>
                      </a:r>
                    </a:p>
                  </a:txBody>
                  <a:tcPr marL="95250" marR="95250" marT="76200" marB="66675">
                    <a:solidFill>
                      <a:srgbClr val="F6F7F9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Compress detection and response</a:t>
                      </a:r>
                    </a:p>
                  </a:txBody>
                  <a:tcPr marL="95250" marR="95250" marT="76200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Per-request analysis, CSV upload, SSE replay, incident report, next-move ranking</a:t>
                      </a:r>
                    </a:p>
                  </a:txBody>
                  <a:tcPr marL="95250" marR="95250" marT="76200" marB="6667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First sampled event is flagged immediately; no production MTTD claim yet</a:t>
                      </a:r>
                    </a:p>
                  </a:txBody>
                  <a:tcPr marL="95250" marR="95250" marT="76200" marB="66675"/>
                </a:tc>
              </a:tr>
            </a:tbl>
          </a:graphicData>
        </a:graphic>
      </p:graphicFrame>
      <p:sp>
        <p:nvSpPr>
          <p:cNvPr id="7" name="trace-optional">
            <a:extLst xmlns:a="http://schemas.openxmlformats.org/drawingml/2006/main">
              <a:ext uri="{FF2B5EF4-FFF2-40B4-BE49-F238E27FC236}">
                <a16:creationId xmlns:a16="http://schemas.microsoft.com/office/drawing/2014/main" id="{958140B6-EF54-44B7-8A1E-7175258C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3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Optional tracks: APT prediction/attribution and attack-path simulation are in the MVP; CVE prioritization and a full OT digital twin are roadmap items.</a:t>
            </a:r>
          </a:p>
        </p:txBody>
      </p:sp>
    </p:spTree>
    <p:extLst>
      <p:ext uri="{BB962C8B-B14F-4D97-AF65-F5344CB8AC3E}">
        <p14:creationId xmlns:p14="http://schemas.microsoft.com/office/powerpoint/2010/main" val="260129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novel-old-0">
            <a:extLst xmlns:a="http://schemas.openxmlformats.org/drawingml/2006/main">
              <a:ext uri="{FF2B5EF4-FFF2-40B4-BE49-F238E27FC236}">
                <a16:creationId xmlns:a16="http://schemas.microsoft.com/office/drawing/2014/main" id="{F2B5F26B-7870-49BF-8C65-BD2DA005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38" name="novel-arrow-0"/>
          <p:cNvCxnSpPr/>
          <p:nvPr/>
        </p:nvCxnSpPr>
        <p:spPr>
          <a:xfrm xmlns:a="http://schemas.openxmlformats.org/drawingml/2006/main">
            <a:off x="4591050" y="1971675"/>
            <a:ext cx="6858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3" name="novel-new-0">
            <a:extLst xmlns:a="http://schemas.openxmlformats.org/drawingml/2006/main">
              <a:ext uri="{FF2B5EF4-FFF2-40B4-BE49-F238E27FC236}">
                <a16:creationId xmlns:a16="http://schemas.microsoft.com/office/drawing/2014/main" id="{35E1C2CA-DF2F-42EB-BB89-2F7E06F8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81150"/>
            <a:ext cx="6324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novel-old-1">
            <a:extLst xmlns:a="http://schemas.openxmlformats.org/drawingml/2006/main">
              <a:ext uri="{FF2B5EF4-FFF2-40B4-BE49-F238E27FC236}">
                <a16:creationId xmlns:a16="http://schemas.microsoft.com/office/drawing/2014/main" id="{1DB1A1DC-178A-43AE-99B3-4BE65A78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41" name="novel-arrow-1"/>
          <p:cNvCxnSpPr/>
          <p:nvPr/>
        </p:nvCxnSpPr>
        <p:spPr>
          <a:xfrm xmlns:a="http://schemas.openxmlformats.org/drawingml/2006/main">
            <a:off x="4591050" y="2981325"/>
            <a:ext cx="6858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novel-new-1">
            <a:extLst xmlns:a="http://schemas.openxmlformats.org/drawingml/2006/main">
              <a:ext uri="{FF2B5EF4-FFF2-40B4-BE49-F238E27FC236}">
                <a16:creationId xmlns:a16="http://schemas.microsoft.com/office/drawing/2014/main" id="{A5C5EC34-3D8D-4F43-BDC1-B0D659C2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90800"/>
            <a:ext cx="6324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novel-old-2">
            <a:extLst xmlns:a="http://schemas.openxmlformats.org/drawingml/2006/main">
              <a:ext uri="{FF2B5EF4-FFF2-40B4-BE49-F238E27FC236}">
                <a16:creationId xmlns:a16="http://schemas.microsoft.com/office/drawing/2014/main" id="{DB37EA8F-2B94-40D2-A8B8-DEFDB709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44" name="novel-arrow-2"/>
          <p:cNvCxnSpPr/>
          <p:nvPr/>
        </p:nvCxnSpPr>
        <p:spPr>
          <a:xfrm xmlns:a="http://schemas.openxmlformats.org/drawingml/2006/main">
            <a:off x="4591050" y="3990975"/>
            <a:ext cx="6858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9" name="novel-new-2">
            <a:extLst xmlns:a="http://schemas.openxmlformats.org/drawingml/2006/main">
              <a:ext uri="{FF2B5EF4-FFF2-40B4-BE49-F238E27FC236}">
                <a16:creationId xmlns:a16="http://schemas.microsoft.com/office/drawing/2014/main" id="{609CB2CA-FA69-443C-A096-A980AB8D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00450"/>
            <a:ext cx="6324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novel-old-3">
            <a:extLst xmlns:a="http://schemas.openxmlformats.org/drawingml/2006/main">
              <a:ext uri="{FF2B5EF4-FFF2-40B4-BE49-F238E27FC236}">
                <a16:creationId xmlns:a16="http://schemas.microsoft.com/office/drawing/2014/main" id="{44241919-F844-43F3-8156-A6AE4975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47" name="novel-arrow-3"/>
          <p:cNvCxnSpPr/>
          <p:nvPr/>
        </p:nvCxnSpPr>
        <p:spPr>
          <a:xfrm xmlns:a="http://schemas.openxmlformats.org/drawingml/2006/main">
            <a:off x="4591050" y="5000625"/>
            <a:ext cx="6858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2" name="novel-new-3">
            <a:extLst xmlns:a="http://schemas.openxmlformats.org/drawingml/2006/main">
              <a:ext uri="{FF2B5EF4-FFF2-40B4-BE49-F238E27FC236}">
                <a16:creationId xmlns:a16="http://schemas.microsoft.com/office/drawing/2014/main" id="{10A9F440-04BB-42EE-B3DB-C915D66D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10100"/>
            <a:ext cx="6324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novel-bottom">
            <a:extLst xmlns:a="http://schemas.openxmlformats.org/drawingml/2006/main">
              <a:ext uri="{FF2B5EF4-FFF2-40B4-BE49-F238E27FC236}">
                <a16:creationId xmlns:a16="http://schemas.microsoft.com/office/drawing/2014/main" id="{3F93D79B-4788-44B1-B1AA-C47DDD49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1277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69FDA57C-5282-4ECB-8657-C65C3FFC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novelty is the closed loop—not a new algorithm name</a:t>
            </a:r>
          </a:p>
        </p:txBody>
      </p:sp>
      <p:sp>
        <p:nvSpPr>
          <p:cNvPr id="15" name="slide-4-accent">
            <a:extLst xmlns:a="http://schemas.openxmlformats.org/drawingml/2006/main">
              <a:ext uri="{FF2B5EF4-FFF2-40B4-BE49-F238E27FC236}">
                <a16:creationId xmlns:a16="http://schemas.microsoft.com/office/drawing/2014/main" id="{BA81F862-6FBE-4069-A2E8-0DBA9424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lide-4-source">
            <a:extLst xmlns:a="http://schemas.openxmlformats.org/drawingml/2006/main">
              <a:ext uri="{FF2B5EF4-FFF2-40B4-BE49-F238E27FC236}">
                <a16:creationId xmlns:a16="http://schemas.microsoft.com/office/drawing/2014/main" id="{6971C104-0FFF-4B1A-AAB0-FA74AC53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Sources: repository code and evaluation reports; algorithm comparison is implementation-specific.</a:t>
            </a:r>
          </a:p>
        </p:txBody>
      </p:sp>
      <p:sp>
        <p:nvSpPr>
          <p:cNvPr id="17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25A83C18-B362-406C-963C-E7312BB2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novel-col-a">
            <a:extLst xmlns:a="http://schemas.openxmlformats.org/drawingml/2006/main">
              <a:ext uri="{FF2B5EF4-FFF2-40B4-BE49-F238E27FC236}">
                <a16:creationId xmlns:a16="http://schemas.microsoft.com/office/drawing/2014/main" id="{97D561DC-E108-44AB-AFB7-7B5B8EB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CONVENTIONAL DEFAULT</a:t>
            </a:r>
          </a:p>
        </p:txBody>
      </p:sp>
      <p:sp>
        <p:nvSpPr>
          <p:cNvPr id="19" name="novel-col-b">
            <a:extLst xmlns:a="http://schemas.openxmlformats.org/drawingml/2006/main">
              <a:ext uri="{FF2B5EF4-FFF2-40B4-BE49-F238E27FC236}">
                <a16:creationId xmlns:a16="http://schemas.microsoft.com/office/drawing/2014/main" id="{98287B64-947D-4DA3-BA11-3E26AFE5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2382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RESILIENCE GRAPH AI</a:t>
            </a:r>
          </a:p>
        </p:txBody>
      </p:sp>
      <p:sp>
        <p:nvSpPr>
          <p:cNvPr id="20" name="novel-left-title-0">
            <a:extLst xmlns:a="http://schemas.openxmlformats.org/drawingml/2006/main">
              <a:ext uri="{FF2B5EF4-FFF2-40B4-BE49-F238E27FC236}">
                <a16:creationId xmlns:a16="http://schemas.microsoft.com/office/drawing/2014/main" id="{887D106C-D84D-4A8B-864E-26693B3B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Known signatures / volume rules</a:t>
            </a:r>
          </a:p>
        </p:txBody>
      </p:sp>
      <p:sp>
        <p:nvSpPr>
          <p:cNvPr id="21" name="novel-right-title-0">
            <a:extLst xmlns:a="http://schemas.openxmlformats.org/drawingml/2006/main">
              <a:ext uri="{FF2B5EF4-FFF2-40B4-BE49-F238E27FC236}">
                <a16:creationId xmlns:a16="http://schemas.microsoft.com/office/drawing/2014/main" id="{57E32BA1-C1C6-4EF3-A9AF-C6FD8E0D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85925"/>
            <a:ext cx="561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Benign-only behavioral profiles</a:t>
            </a:r>
          </a:p>
        </p:txBody>
      </p:sp>
      <p:sp>
        <p:nvSpPr>
          <p:cNvPr id="22" name="novel-right-body-0">
            <a:extLst xmlns:a="http://schemas.openxmlformats.org/drawingml/2006/main">
              <a:ext uri="{FF2B5EF4-FFF2-40B4-BE49-F238E27FC236}">
                <a16:creationId xmlns:a16="http://schemas.microsoft.com/office/drawing/2014/main" id="{C1CD8511-FE5E-4F62-B11D-291D19C0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907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59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Flags new-host access, fan-out, rarity and authentication shifts before a malware signature exists.</a:t>
            </a:r>
          </a:p>
        </p:txBody>
      </p:sp>
      <p:sp>
        <p:nvSpPr>
          <p:cNvPr id="23" name="novel-arrow-glyph-0">
            <a:extLst xmlns:a="http://schemas.openxmlformats.org/drawingml/2006/main">
              <a:ext uri="{FF2B5EF4-FFF2-40B4-BE49-F238E27FC236}">
                <a16:creationId xmlns:a16="http://schemas.microsoft.com/office/drawing/2014/main" id="{85CE8738-0973-451F-8C5B-7EA71DCE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430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novel-left-title-1">
            <a:extLst xmlns:a="http://schemas.openxmlformats.org/drawingml/2006/main">
              <a:ext uri="{FF2B5EF4-FFF2-40B4-BE49-F238E27FC236}">
                <a16:creationId xmlns:a16="http://schemas.microsoft.com/office/drawing/2014/main" id="{D964B933-A209-4408-90CB-4C8A8FB4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score per alert</a:t>
            </a:r>
          </a:p>
        </p:txBody>
      </p:sp>
      <p:sp>
        <p:nvSpPr>
          <p:cNvPr id="25" name="novel-right-title-1">
            <a:extLst xmlns:a="http://schemas.openxmlformats.org/drawingml/2006/main">
              <a:ext uri="{FF2B5EF4-FFF2-40B4-BE49-F238E27FC236}">
                <a16:creationId xmlns:a16="http://schemas.microsoft.com/office/drawing/2014/main" id="{272FF382-A3C3-4DF7-B68C-27DE9F26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95575"/>
            <a:ext cx="561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Campaign-level correlation + graph</a:t>
            </a:r>
          </a:p>
        </p:txBody>
      </p:sp>
      <p:sp>
        <p:nvSpPr>
          <p:cNvPr id="26" name="novel-right-body-1">
            <a:extLst xmlns:a="http://schemas.openxmlformats.org/drawingml/2006/main">
              <a:ext uri="{FF2B5EF4-FFF2-40B4-BE49-F238E27FC236}">
                <a16:creationId xmlns:a16="http://schemas.microsoft.com/office/drawing/2014/main" id="{A70BA639-6EE4-4061-BDD3-ADF89D4E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003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59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Connects accounts and hosts into a path, exposes pivots, critical assets, and a measurable isolation cut.</a:t>
            </a:r>
          </a:p>
        </p:txBody>
      </p:sp>
      <p:sp>
        <p:nvSpPr>
          <p:cNvPr id="27" name="novel-arrow-glyph-1">
            <a:extLst xmlns:a="http://schemas.openxmlformats.org/drawingml/2006/main">
              <a:ext uri="{FF2B5EF4-FFF2-40B4-BE49-F238E27FC236}">
                <a16:creationId xmlns:a16="http://schemas.microsoft.com/office/drawing/2014/main" id="{39365A6A-7AD0-456D-B8F3-1174D05D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527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novel-left-title-2">
            <a:extLst xmlns:a="http://schemas.openxmlformats.org/drawingml/2006/main">
              <a:ext uri="{FF2B5EF4-FFF2-40B4-BE49-F238E27FC236}">
                <a16:creationId xmlns:a16="http://schemas.microsoft.com/office/drawing/2014/main" id="{56FFAD76-AD89-4A43-A409-85FDE8E3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‘Deep’ model by default</a:t>
            </a:r>
          </a:p>
        </p:txBody>
      </p:sp>
      <p:sp>
        <p:nvSpPr>
          <p:cNvPr id="29" name="novel-right-title-2">
            <a:extLst xmlns:a="http://schemas.openxmlformats.org/drawingml/2006/main">
              <a:ext uri="{FF2B5EF4-FFF2-40B4-BE49-F238E27FC236}">
                <a16:creationId xmlns:a16="http://schemas.microsoft.com/office/drawing/2014/main" id="{FA96D605-6339-4B8B-A2AB-0E6AB66B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05225"/>
            <a:ext cx="561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Simple model wins when evidence says so</a:t>
            </a:r>
          </a:p>
        </p:txBody>
      </p:sp>
      <p:sp>
        <p:nvSpPr>
          <p:cNvPr id="30" name="novel-right-body-2">
            <a:extLst xmlns:a="http://schemas.openxmlformats.org/drawingml/2006/main">
              <a:ext uri="{FF2B5EF4-FFF2-40B4-BE49-F238E27FC236}">
                <a16:creationId xmlns:a16="http://schemas.microsoft.com/office/drawing/2014/main" id="{96909D9F-B95E-426C-8DD0-BEAE08CE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100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59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First-order Markov reaches 36.5% top-3; LSTM reaches 27.2%. We ship the stronger, explainable model.</a:t>
            </a:r>
          </a:p>
        </p:txBody>
      </p:sp>
      <p:sp>
        <p:nvSpPr>
          <p:cNvPr id="31" name="novel-arrow-glyph-2">
            <a:extLst xmlns:a="http://schemas.openxmlformats.org/drawingml/2006/main">
              <a:ext uri="{FF2B5EF4-FFF2-40B4-BE49-F238E27FC236}">
                <a16:creationId xmlns:a16="http://schemas.microsoft.com/office/drawing/2014/main" id="{390DEE91-C66A-4E98-A110-DD882DBF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7623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novel-left-title-3">
            <a:extLst xmlns:a="http://schemas.openxmlformats.org/drawingml/2006/main">
              <a:ext uri="{FF2B5EF4-FFF2-40B4-BE49-F238E27FC236}">
                <a16:creationId xmlns:a16="http://schemas.microsoft.com/office/drawing/2014/main" id="{617DC59C-C193-47E6-9864-A4D3795D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Auto-response on / off</a:t>
            </a:r>
          </a:p>
        </p:txBody>
      </p:sp>
      <p:sp>
        <p:nvSpPr>
          <p:cNvPr id="33" name="novel-right-title-3">
            <a:extLst xmlns:a="http://schemas.openxmlformats.org/drawingml/2006/main">
              <a:ext uri="{FF2B5EF4-FFF2-40B4-BE49-F238E27FC236}">
                <a16:creationId xmlns:a16="http://schemas.microsoft.com/office/drawing/2014/main" id="{A2C1B3C5-1FF9-474F-A23E-36B285CC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14875"/>
            <a:ext cx="561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Blast-radius-aware human gate</a:t>
            </a:r>
          </a:p>
        </p:txBody>
      </p:sp>
      <p:sp>
        <p:nvSpPr>
          <p:cNvPr id="34" name="novel-right-body-3">
            <a:extLst xmlns:a="http://schemas.openxmlformats.org/drawingml/2006/main">
              <a:ext uri="{FF2B5EF4-FFF2-40B4-BE49-F238E27FC236}">
                <a16:creationId xmlns:a16="http://schemas.microsoft.com/office/drawing/2014/main" id="{29B0B636-C1DC-4CD4-8E54-FB69F14A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196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59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Response mode depends on severity and critical-asset exposure; every proposed action is retained for audit.</a:t>
            </a:r>
          </a:p>
        </p:txBody>
      </p:sp>
      <p:sp>
        <p:nvSpPr>
          <p:cNvPr id="35" name="novel-arrow-glyph-3">
            <a:extLst xmlns:a="http://schemas.openxmlformats.org/drawingml/2006/main">
              <a:ext uri="{FF2B5EF4-FFF2-40B4-BE49-F238E27FC236}">
                <a16:creationId xmlns:a16="http://schemas.microsoft.com/office/drawing/2014/main" id="{27367121-003F-484C-9893-26A6C398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7720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974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6" name="novel-loop">
            <a:extLst xmlns:a="http://schemas.openxmlformats.org/drawingml/2006/main">
              <a:ext uri="{FF2B5EF4-FFF2-40B4-BE49-F238E27FC236}">
                <a16:creationId xmlns:a16="http://schemas.microsoft.com/office/drawing/2014/main" id="{6AF95E58-7B90-47AD-8467-D7722555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Differentiator: DETECT → CORRELATE → MAP → PREDICT → ATTRIBUTE → CONTAIN — every step inspectable.</a:t>
            </a:r>
          </a:p>
        </p:txBody>
      </p:sp>
    </p:spTree>
    <p:extLst>
      <p:ext uri="{BB962C8B-B14F-4D97-AF65-F5344CB8AC3E}">
        <p14:creationId xmlns:p14="http://schemas.microsoft.com/office/powerpoint/2010/main" val="1576272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arch-src-e1"/>
          <p:cNvCxnSpPr/>
          <p:nvPr/>
        </p:nvCxnSpPr>
        <p:spPr>
          <a:xfrm xmlns:a="http://schemas.openxmlformats.org/drawingml/2006/main">
            <a:off x="2733675" y="2114550"/>
            <a:ext cx="286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4" name="arch-src-e2"/>
          <p:cNvCxnSpPr/>
          <p:nvPr/>
        </p:nvCxnSpPr>
        <p:spPr>
          <a:xfrm xmlns:a="http://schemas.openxmlformats.org/drawingml/2006/main">
            <a:off x="8610600" y="2114550"/>
            <a:ext cx="286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5" name="arch-e1-spine"/>
          <p:cNvCxnSpPr/>
          <p:nvPr/>
        </p:nvCxnSpPr>
        <p:spPr>
          <a:xfrm xmlns:a="http://schemas.openxmlformats.org/drawingml/2006/main">
            <a:off x="3619500" y="3638550"/>
            <a:ext cx="286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6" name="arch-e2-spine"/>
          <p:cNvCxnSpPr/>
          <p:nvPr/>
        </p:nvCxnSpPr>
        <p:spPr>
          <a:xfrm xmlns:a="http://schemas.openxmlformats.org/drawingml/2006/main">
            <a:off x="8572500" y="3638550"/>
            <a:ext cx="286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7" name="arch-spine-api"/>
          <p:cNvCxnSpPr/>
          <p:nvPr/>
        </p:nvCxnSpPr>
        <p:spPr>
          <a:xfrm xmlns:a="http://schemas.openxmlformats.org/drawingml/2006/main">
            <a:off x="6096000" y="521970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arch-source-band">
            <a:extLst xmlns:a="http://schemas.openxmlformats.org/drawingml/2006/main">
              <a:ext uri="{FF2B5EF4-FFF2-40B4-BE49-F238E27FC236}">
                <a16:creationId xmlns:a16="http://schemas.microsoft.com/office/drawing/2014/main" id="{B21FD173-6D0A-4616-ADC3-F9DE5CCE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arch-e1">
            <a:extLst xmlns:a="http://schemas.openxmlformats.org/drawingml/2006/main">
              <a:ext uri="{FF2B5EF4-FFF2-40B4-BE49-F238E27FC236}">
                <a16:creationId xmlns:a16="http://schemas.microsoft.com/office/drawing/2014/main" id="{10F85194-2645-4A8D-8A4B-9D175D1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47950"/>
            <a:ext cx="4038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arch-e2">
            <a:extLst xmlns:a="http://schemas.openxmlformats.org/drawingml/2006/main">
              <a:ext uri="{FF2B5EF4-FFF2-40B4-BE49-F238E27FC236}">
                <a16:creationId xmlns:a16="http://schemas.microsoft.com/office/drawing/2014/main" id="{6A9F222A-B201-4C06-8BB4-760EB196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40386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arch-spine">
            <a:extLst xmlns:a="http://schemas.openxmlformats.org/drawingml/2006/main">
              <a:ext uri="{FF2B5EF4-FFF2-40B4-BE49-F238E27FC236}">
                <a16:creationId xmlns:a16="http://schemas.microsoft.com/office/drawing/2014/main" id="{4593C739-7232-46B8-86F6-DB788CD4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10058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-product">
            <a:extLst xmlns:a="http://schemas.openxmlformats.org/drawingml/2006/main">
              <a:ext uri="{FF2B5EF4-FFF2-40B4-BE49-F238E27FC236}">
                <a16:creationId xmlns:a16="http://schemas.microsoft.com/office/drawing/2014/main" id="{A0AD7F09-2552-4103-B940-48AEBE4C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19750"/>
            <a:ext cx="8610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09156A0-7555-4FDE-BD23-2CCADAEA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live pipeline connects evidence to action</a:t>
            </a:r>
          </a:p>
        </p:txBody>
      </p:sp>
      <p:sp>
        <p:nvSpPr>
          <p:cNvPr id="12" name="slide-5-accent">
            <a:extLst xmlns:a="http://schemas.openxmlformats.org/drawingml/2006/main">
              <a:ext uri="{FF2B5EF4-FFF2-40B4-BE49-F238E27FC236}">
                <a16:creationId xmlns:a16="http://schemas.microsoft.com/office/drawing/2014/main" id="{BD9C926B-BCA8-4020-9C62-8F088053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lide-5-source">
            <a:extLst xmlns:a="http://schemas.openxmlformats.org/drawingml/2006/main">
              <a:ext uri="{FF2B5EF4-FFF2-40B4-BE49-F238E27FC236}">
                <a16:creationId xmlns:a16="http://schemas.microsoft.com/office/drawing/2014/main" id="{457FCEFF-37DB-4352-ADF6-47CB6C5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Sources: architecture.md; src/shared/live_analyze.py; api/main.py; frontend routes.</a:t>
            </a:r>
          </a:p>
        </p:txBody>
      </p:sp>
      <p:sp>
        <p:nvSpPr>
          <p:cNvPr id="14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F2DEC4B9-BC0F-446E-AFF1-56CAC990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" name="arch-source-title-0">
            <a:extLst xmlns:a="http://schemas.openxmlformats.org/drawingml/2006/main">
              <a:ext uri="{FF2B5EF4-FFF2-40B4-BE49-F238E27FC236}">
                <a16:creationId xmlns:a16="http://schemas.microsoft.com/office/drawing/2014/main" id="{3304B0D1-F62F-44C5-8671-31101B28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049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CIC-IDS2017</a:t>
            </a:r>
          </a:p>
        </p:txBody>
      </p:sp>
      <p:sp>
        <p:nvSpPr>
          <p:cNvPr id="16" name="arch-source-body-0">
            <a:extLst xmlns:a="http://schemas.openxmlformats.org/drawingml/2006/main">
              <a:ext uri="{FF2B5EF4-FFF2-40B4-BE49-F238E27FC236}">
                <a16:creationId xmlns:a16="http://schemas.microsoft.com/office/drawing/2014/main" id="{B5C5A6B8-A259-4675-8B30-9C48B57A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907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296"/>
          </a:bodyPr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2,094,130 processed flows</a:t>
            </a:r>
          </a:p>
        </p:txBody>
      </p:sp>
      <p:sp>
        <p:nvSpPr>
          <p:cNvPr id="17" name="arch-source-title-1">
            <a:extLst xmlns:a="http://schemas.openxmlformats.org/drawingml/2006/main">
              <a:ext uri="{FF2B5EF4-FFF2-40B4-BE49-F238E27FC236}">
                <a16:creationId xmlns:a16="http://schemas.microsoft.com/office/drawing/2014/main" id="{7079D134-C54A-4831-B386-B4AF9550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5049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LANL</a:t>
            </a:r>
          </a:p>
        </p:txBody>
      </p:sp>
      <p:sp>
        <p:nvSpPr>
          <p:cNvPr id="18" name="arch-source-body-1">
            <a:extLst xmlns:a="http://schemas.openxmlformats.org/drawingml/2006/main">
              <a:ext uri="{FF2B5EF4-FFF2-40B4-BE49-F238E27FC236}">
                <a16:creationId xmlns:a16="http://schemas.microsoft.com/office/drawing/2014/main" id="{BA813CCA-6EC3-43F2-A1A1-0E4EA97D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7907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296"/>
          </a:bodyPr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11,221,902 auth events</a:t>
            </a:r>
          </a:p>
        </p:txBody>
      </p:sp>
      <p:sp>
        <p:nvSpPr>
          <p:cNvPr id="19" name="arch-source-title-2">
            <a:extLst xmlns:a="http://schemas.openxmlformats.org/drawingml/2006/main">
              <a:ext uri="{FF2B5EF4-FFF2-40B4-BE49-F238E27FC236}">
                <a16:creationId xmlns:a16="http://schemas.microsoft.com/office/drawing/2014/main" id="{E33D8F8D-30BD-4AAC-A4A7-9103185C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5049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UNSW-NB15</a:t>
            </a:r>
          </a:p>
        </p:txBody>
      </p:sp>
      <p:sp>
        <p:nvSpPr>
          <p:cNvPr id="20" name="arch-source-body-2">
            <a:extLst xmlns:a="http://schemas.openxmlformats.org/drawingml/2006/main">
              <a:ext uri="{FF2B5EF4-FFF2-40B4-BE49-F238E27FC236}">
                <a16:creationId xmlns:a16="http://schemas.microsoft.com/office/drawing/2014/main" id="{470EF5F4-BCE8-4036-A575-4C30CC21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7907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296"/>
          </a:bodyPr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second benchmark</a:t>
            </a:r>
          </a:p>
        </p:txBody>
      </p:sp>
      <p:sp>
        <p:nvSpPr>
          <p:cNvPr id="21" name="arch-source-title-3">
            <a:extLst xmlns:a="http://schemas.openxmlformats.org/drawingml/2006/main">
              <a:ext uri="{FF2B5EF4-FFF2-40B4-BE49-F238E27FC236}">
                <a16:creationId xmlns:a16="http://schemas.microsoft.com/office/drawing/2014/main" id="{89757905-62AE-432A-A345-D94A074F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5049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MITRE ATT&amp;CK</a:t>
            </a:r>
          </a:p>
        </p:txBody>
      </p:sp>
      <p:sp>
        <p:nvSpPr>
          <p:cNvPr id="22" name="arch-source-body-3">
            <a:extLst xmlns:a="http://schemas.openxmlformats.org/drawingml/2006/main">
              <a:ext uri="{FF2B5EF4-FFF2-40B4-BE49-F238E27FC236}">
                <a16:creationId xmlns:a16="http://schemas.microsoft.com/office/drawing/2014/main" id="{D0FA61C3-4E7F-4368-8745-B9998F56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7907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296"/>
          </a:bodyPr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918 techniques</a:t>
            </a:r>
          </a:p>
        </p:txBody>
      </p:sp>
      <p:sp>
        <p:nvSpPr>
          <p:cNvPr id="23" name="arch-source-title-4">
            <a:extLst xmlns:a="http://schemas.openxmlformats.org/drawingml/2006/main">
              <a:ext uri="{FF2B5EF4-FFF2-40B4-BE49-F238E27FC236}">
                <a16:creationId xmlns:a16="http://schemas.microsoft.com/office/drawing/2014/main" id="{BD5A3C9C-96B4-4F54-BEF9-397934B3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5049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CERT-In + CTI</a:t>
            </a:r>
          </a:p>
        </p:txBody>
      </p:sp>
      <p:sp>
        <p:nvSpPr>
          <p:cNvPr id="24" name="arch-source-body-4">
            <a:extLst xmlns:a="http://schemas.openxmlformats.org/drawingml/2006/main">
              <a:ext uri="{FF2B5EF4-FFF2-40B4-BE49-F238E27FC236}">
                <a16:creationId xmlns:a16="http://schemas.microsoft.com/office/drawing/2014/main" id="{42D3A993-4952-469E-A4F7-CEBA14C5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907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296"/>
          </a:bodyPr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manual sequences + radar</a:t>
            </a:r>
          </a:p>
        </p:txBody>
      </p:sp>
      <p:sp>
        <p:nvSpPr>
          <p:cNvPr id="25" name="arch-e1-title">
            <a:extLst xmlns:a="http://schemas.openxmlformats.org/drawingml/2006/main">
              <a:ext uri="{FF2B5EF4-FFF2-40B4-BE49-F238E27FC236}">
                <a16:creationId xmlns:a16="http://schemas.microsoft.com/office/drawing/2014/main" id="{356ABC15-96B2-4254-AFD8-2B0AEA12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384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ENGINE 1  /  REAL DETECTION</a:t>
            </a:r>
          </a:p>
        </p:txBody>
      </p:sp>
      <p:sp>
        <p:nvSpPr>
          <p:cNvPr id="26" name="arch-e1-body">
            <a:extLst xmlns:a="http://schemas.openxmlformats.org/drawingml/2006/main">
              <a:ext uri="{FF2B5EF4-FFF2-40B4-BE49-F238E27FC236}">
                <a16:creationId xmlns:a16="http://schemas.microsoft.com/office/drawing/2014/main" id="{ACD0D1C8-824B-42AD-9879-CE04DBB0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813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59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Benign-only anomaly scoring</a:t>
            </a:r>
          </a:p>
          <a:p xmlns:a="http://schemas.openxmlformats.org/drawingml/2006/main">
            <a:pPr algn="ctr">
              <a:defRPr sz="11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 behavioral auth features + flow models</a:t>
            </a:r>
          </a:p>
        </p:txBody>
      </p:sp>
      <p:sp>
        <p:nvSpPr>
          <p:cNvPr id="27" name="arch-e2-title">
            <a:extLst xmlns:a="http://schemas.openxmlformats.org/drawingml/2006/main">
              <a:ext uri="{FF2B5EF4-FFF2-40B4-BE49-F238E27FC236}">
                <a16:creationId xmlns:a16="http://schemas.microsoft.com/office/drawing/2014/main" id="{CCE92BA5-EA3A-49D5-87A5-0A832F8F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ENGINE 2  /  FORESIGHT</a:t>
            </a:r>
          </a:p>
        </p:txBody>
      </p:sp>
      <p:sp>
        <p:nvSpPr>
          <p:cNvPr id="28" name="arch-e2-body">
            <a:extLst xmlns:a="http://schemas.openxmlformats.org/drawingml/2006/main">
              <a:ext uri="{FF2B5EF4-FFF2-40B4-BE49-F238E27FC236}">
                <a16:creationId xmlns:a16="http://schemas.microsoft.com/office/drawing/2014/main" id="{C708BD9E-EBE7-4467-A54F-F09AAABF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59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Markov next-technique ranking</a:t>
            </a:r>
          </a:p>
          <a:p xmlns:a="http://schemas.openxmlformats.org/drawingml/2006/main">
            <a:pPr algn="ctr">
              <a:defRPr sz="11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MiniLM retrieval for transparent attribution</a:t>
            </a:r>
          </a:p>
        </p:txBody>
      </p:sp>
      <p:sp>
        <p:nvSpPr>
          <p:cNvPr id="29" name="arch-spine-title">
            <a:extLst xmlns:a="http://schemas.openxmlformats.org/drawingml/2006/main">
              <a:ext uri="{FF2B5EF4-FFF2-40B4-BE49-F238E27FC236}">
                <a16:creationId xmlns:a16="http://schemas.microsoft.com/office/drawing/2014/main" id="{3E8EBE7B-1DDF-4E29-B3A4-1B1C5309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957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SHARED SPINE — RUNS PER REQUEST</a:t>
            </a:r>
          </a:p>
        </p:txBody>
      </p:sp>
      <p:sp>
        <p:nvSpPr>
          <p:cNvPr id="30" name="arch-spine-body">
            <a:extLst xmlns:a="http://schemas.openxmlformats.org/drawingml/2006/main">
              <a:ext uri="{FF2B5EF4-FFF2-40B4-BE49-F238E27FC236}">
                <a16:creationId xmlns:a16="http://schemas.microsoft.com/office/drawing/2014/main" id="{070B653F-5254-42B6-8E06-0B1C71C2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863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573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Normalize → fixed-calibration score → correlate → ATT&amp;CK map → attack graph → predict / attribute → gated SOAR → audit report</a:t>
            </a:r>
          </a:p>
        </p:txBody>
      </p:sp>
      <p:sp>
        <p:nvSpPr>
          <p:cNvPr id="31" name="arch-product-title">
            <a:extLst xmlns:a="http://schemas.openxmlformats.org/drawingml/2006/main">
              <a:ext uri="{FF2B5EF4-FFF2-40B4-BE49-F238E27FC236}">
                <a16:creationId xmlns:a16="http://schemas.microsoft.com/office/drawing/2014/main" id="{D2793AAC-BEB6-462D-8E6D-156EC471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62625"/>
            <a:ext cx="803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FASTAPI  +  REACT SOC COMMAND CENTER</a:t>
            </a:r>
          </a:p>
        </p:txBody>
      </p:sp>
      <p:sp>
        <p:nvSpPr>
          <p:cNvPr id="32" name="arch-product-body">
            <a:extLst xmlns:a="http://schemas.openxmlformats.org/drawingml/2006/main">
              <a:ext uri="{FF2B5EF4-FFF2-40B4-BE49-F238E27FC236}">
                <a16:creationId xmlns:a16="http://schemas.microsoft.com/office/drawing/2014/main" id="{8CE7D249-16BD-4F5E-84EA-F238E674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057900"/>
            <a:ext cx="803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743"/>
          </a:bodyPr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CSV / scenario / SSE inputs  •  9 operational views + login  •  cached fallback  •  one-container deploy</a:t>
            </a:r>
          </a:p>
        </p:txBody>
      </p:sp>
    </p:spTree>
    <p:extLst>
      <p:ext uri="{BB962C8B-B14F-4D97-AF65-F5344CB8AC3E}">
        <p14:creationId xmlns:p14="http://schemas.microsoft.com/office/powerpoint/2010/main" val="18880131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1-right-a">
            <a:extLst xmlns:a="http://schemas.openxmlformats.org/drawingml/2006/main">
              <a:ext uri="{FF2B5EF4-FFF2-40B4-BE49-F238E27FC236}">
                <a16:creationId xmlns:a16="http://schemas.microsoft.com/office/drawing/2014/main" id="{EAE8CD61-2DB5-47DE-A864-DC2390A9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506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" name="e1-right-b">
            <a:extLst xmlns:a="http://schemas.openxmlformats.org/drawingml/2006/main">
              <a:ext uri="{FF2B5EF4-FFF2-40B4-BE49-F238E27FC236}">
                <a16:creationId xmlns:a16="http://schemas.microsoft.com/office/drawing/2014/main" id="{2BCAD720-D631-4D6A-94F7-C1248625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506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e1-right-c">
            <a:extLst xmlns:a="http://schemas.openxmlformats.org/drawingml/2006/main">
              <a:ext uri="{FF2B5EF4-FFF2-40B4-BE49-F238E27FC236}">
                <a16:creationId xmlns:a16="http://schemas.microsoft.com/office/drawing/2014/main" id="{91A3C61C-73A2-4919-A99C-16572A15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506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e1-bottom">
            <a:extLst xmlns:a="http://schemas.openxmlformats.org/drawingml/2006/main">
              <a:ext uri="{FF2B5EF4-FFF2-40B4-BE49-F238E27FC236}">
                <a16:creationId xmlns:a16="http://schemas.microsoft.com/office/drawing/2014/main" id="{F7B4016E-CB44-4512-B015-08A3DEC2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95950"/>
            <a:ext cx="5067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6D3612B2-7231-43D3-BA8B-B35A4AC1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Engine 1 detects behavior without attack labels</a:t>
            </a:r>
          </a:p>
        </p:txBody>
      </p:sp>
      <p:sp>
        <p:nvSpPr>
          <p:cNvPr id="6" name="slide-6-accent">
            <a:extLst xmlns:a="http://schemas.openxmlformats.org/drawingml/2006/main">
              <a:ext uri="{FF2B5EF4-FFF2-40B4-BE49-F238E27FC236}">
                <a16:creationId xmlns:a16="http://schemas.microsoft.com/office/drawing/2014/main" id="{9B0CAA3A-5DAC-40A4-A84C-69B90DB0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-6-source">
            <a:extLst xmlns:a="http://schemas.openxmlformats.org/drawingml/2006/main">
              <a:ext uri="{FF2B5EF4-FFF2-40B4-BE49-F238E27FC236}">
                <a16:creationId xmlns:a16="http://schemas.microsoft.com/office/drawing/2014/main" id="{B254E4BB-AA40-4DBD-8EA6-E940DEF7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Sources: reports/evaluation_report.md; lanl_redteam_detection.md; unsw_evaluation.md.</a:t>
            </a:r>
          </a:p>
        </p:txBody>
      </p:sp>
      <p:sp>
        <p:nvSpPr>
          <p:cNvPr id="8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6FD2B3B6-1BA5-4D42-9CFC-04AC843E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76250" y="1619250"/>
          <a:ext xmlns:a="http://schemas.openxmlformats.org/drawingml/2006/main" cx="5715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564f5f84dc4000"/>
          </a:graphicData>
        </a:graphic>
      </p:graphicFrame>
      <p:sp>
        <p:nvSpPr>
          <p:cNvPr id="10" name="e1-axis-mask-bg">
            <a:extLst xmlns:a="http://schemas.openxmlformats.org/drawingml/2006/main">
              <a:ext uri="{FF2B5EF4-FFF2-40B4-BE49-F238E27FC236}">
                <a16:creationId xmlns:a16="http://schemas.microsoft.com/office/drawing/2014/main" id="{A84DE7F4-64EC-4256-A035-7FEE7686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959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1-lanl-title">
            <a:extLst xmlns:a="http://schemas.openxmlformats.org/drawingml/2006/main">
              <a:ext uri="{FF2B5EF4-FFF2-40B4-BE49-F238E27FC236}">
                <a16:creationId xmlns:a16="http://schemas.microsoft.com/office/drawing/2014/main" id="{514E41C4-4D8D-4903-98DC-42F6007F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LANL lateral movement</a:t>
            </a:r>
          </a:p>
        </p:txBody>
      </p:sp>
      <p:sp>
        <p:nvSpPr>
          <p:cNvPr id="12" name="e1-lanl-body">
            <a:extLst xmlns:a="http://schemas.openxmlformats.org/drawingml/2006/main">
              <a:ext uri="{FF2B5EF4-FFF2-40B4-BE49-F238E27FC236}">
                <a16:creationId xmlns:a16="http://schemas.microsoft.com/office/drawing/2014/main" id="{1DEBED24-AE9B-4A24-8807-2F6F78B8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11,221,902 authentications • 702 real red-team events</a:t>
            </a:r>
          </a:p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ROC-AUC 0.988 • TPR 51.4% @ 1% FPR</a:t>
            </a:r>
          </a:p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Behavior-only ablation ROC-AUC 0.929</a:t>
            </a:r>
          </a:p>
        </p:txBody>
      </p:sp>
      <p:sp>
        <p:nvSpPr>
          <p:cNvPr id="13" name="e1-unsw-title">
            <a:extLst xmlns:a="http://schemas.openxmlformats.org/drawingml/2006/main">
              <a:ext uri="{FF2B5EF4-FFF2-40B4-BE49-F238E27FC236}">
                <a16:creationId xmlns:a16="http://schemas.microsoft.com/office/drawing/2014/main" id="{D92A4F17-3271-48CB-BEB7-0DC4A386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UNSW-NB15 second benchmark</a:t>
            </a:r>
          </a:p>
        </p:txBody>
      </p:sp>
      <p:sp>
        <p:nvSpPr>
          <p:cNvPr id="14" name="e1-unsw-body">
            <a:extLst xmlns:a="http://schemas.openxmlformats.org/drawingml/2006/main">
              <a:ext uri="{FF2B5EF4-FFF2-40B4-BE49-F238E27FC236}">
                <a16:creationId xmlns:a16="http://schemas.microsoft.com/office/drawing/2014/main" id="{4704CFF7-21EF-4661-B11A-CB6290DB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81375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Official train/test split • benign-only fit</a:t>
            </a:r>
          </a:p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ROC-AUC 0.829 • PR-AUC 0.867</a:t>
            </a:r>
          </a:p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No label-derived features in the model</a:t>
            </a:r>
          </a:p>
        </p:txBody>
      </p:sp>
      <p:sp>
        <p:nvSpPr>
          <p:cNvPr id="15" name="e1-design-title">
            <a:extLst xmlns:a="http://schemas.openxmlformats.org/drawingml/2006/main">
              <a:ext uri="{FF2B5EF4-FFF2-40B4-BE49-F238E27FC236}">
                <a16:creationId xmlns:a16="http://schemas.microsoft.com/office/drawing/2014/main" id="{F2950E64-1D54-4D76-A65F-28E4C46A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the model sees</a:t>
            </a:r>
          </a:p>
        </p:txBody>
      </p:sp>
      <p:sp>
        <p:nvSpPr>
          <p:cNvPr id="16" name="e1-design-body">
            <a:extLst xmlns:a="http://schemas.openxmlformats.org/drawingml/2006/main">
              <a:ext uri="{FF2B5EF4-FFF2-40B4-BE49-F238E27FC236}">
                <a16:creationId xmlns:a16="http://schemas.microsoft.com/office/drawing/2014/main" id="{A01BA0ED-D16D-4054-9A7C-9FC51D1A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0125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New destination / source for user • running fan-out</a:t>
            </a:r>
          </a:p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fail rate • destination rarity • NTLM indicator</a:t>
            </a:r>
          </a:p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Labels are used only after scoring for evaluation.</a:t>
            </a:r>
          </a:p>
        </p:txBody>
      </p:sp>
      <p:sp>
        <p:nvSpPr>
          <p:cNvPr id="17" name="e1-honesty">
            <a:extLst xmlns:a="http://schemas.openxmlformats.org/drawingml/2006/main">
              <a:ext uri="{FF2B5EF4-FFF2-40B4-BE49-F238E27FC236}">
                <a16:creationId xmlns:a16="http://schemas.microsoft.com/office/drawing/2014/main" id="{773032AD-4236-4D1E-99FC-BF3DE659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HONEST LIMIT: strict low-FPR recall is modest; correlation and graph context amplify weak event-level signals.</a:t>
            </a:r>
          </a:p>
        </p:txBody>
      </p:sp>
    </p:spTree>
    <p:extLst>
      <p:ext uri="{BB962C8B-B14F-4D97-AF65-F5344CB8AC3E}">
        <p14:creationId xmlns:p14="http://schemas.microsoft.com/office/powerpoint/2010/main" val="5585318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2-right-a">
            <a:extLst xmlns:a="http://schemas.openxmlformats.org/drawingml/2006/main">
              <a:ext uri="{FF2B5EF4-FFF2-40B4-BE49-F238E27FC236}">
                <a16:creationId xmlns:a16="http://schemas.microsoft.com/office/drawing/2014/main" id="{C0AB1FE8-6D96-42BA-A048-5B8E2F26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506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" name="e2-right-b">
            <a:extLst xmlns:a="http://schemas.openxmlformats.org/drawingml/2006/main">
              <a:ext uri="{FF2B5EF4-FFF2-40B4-BE49-F238E27FC236}">
                <a16:creationId xmlns:a16="http://schemas.microsoft.com/office/drawing/2014/main" id="{98AE702E-F87A-4E3B-8F7B-F592C21D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506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e2-right-c">
            <a:extLst xmlns:a="http://schemas.openxmlformats.org/drawingml/2006/main">
              <a:ext uri="{FF2B5EF4-FFF2-40B4-BE49-F238E27FC236}">
                <a16:creationId xmlns:a16="http://schemas.microsoft.com/office/drawing/2014/main" id="{B86B712D-8C7A-4390-9F3C-444DA431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506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e2-caveat">
            <a:extLst xmlns:a="http://schemas.openxmlformats.org/drawingml/2006/main">
              <a:ext uri="{FF2B5EF4-FFF2-40B4-BE49-F238E27FC236}">
                <a16:creationId xmlns:a16="http://schemas.microsoft.com/office/drawing/2014/main" id="{E86BA0E3-493F-42C4-80A9-707FBCDA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95950"/>
            <a:ext cx="5067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A85A00"/>
            </a:solidFill>
            <a:prstDash val="solid"/>
          </a:ln>
        </p:spPr>
      </p:sp>
      <p:sp>
        <p:nvSpPr>
          <p:cNvPr id="5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9A33C71A-47C7-407D-A835-48040C32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Engine 2 predicts the next move—and explains why</a:t>
            </a:r>
          </a:p>
        </p:txBody>
      </p:sp>
      <p:sp>
        <p:nvSpPr>
          <p:cNvPr id="6" name="slide-7-accent">
            <a:extLst xmlns:a="http://schemas.openxmlformats.org/drawingml/2006/main">
              <a:ext uri="{FF2B5EF4-FFF2-40B4-BE49-F238E27FC236}">
                <a16:creationId xmlns:a16="http://schemas.microsoft.com/office/drawing/2014/main" id="{F15116C3-85CD-4D6F-8BA1-80A9418D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-7-source">
            <a:extLst xmlns:a="http://schemas.openxmlformats.org/drawingml/2006/main">
              <a:ext uri="{FF2B5EF4-FFF2-40B4-BE49-F238E27FC236}">
                <a16:creationId xmlns:a16="http://schemas.microsoft.com/office/drawing/2014/main" id="{E1A2B04B-78ED-4D98-A27E-87FA8B23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Sources: prediction_eval.md; sequences.md; embeddings.md; attribution_eval.md.</a:t>
            </a:r>
          </a:p>
        </p:txBody>
      </p:sp>
      <p:sp>
        <p:nvSpPr>
          <p:cNvPr id="8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87EF8727-88E1-4595-846D-3E2F2153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76250" y="1619250"/>
          <a:ext xmlns:a="http://schemas.openxmlformats.org/drawingml/2006/main" cx="5715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9ade942d0546f7"/>
          </a:graphicData>
        </a:graphic>
      </p:graphicFrame>
      <p:sp>
        <p:nvSpPr>
          <p:cNvPr id="10" name="e2-axis-mask-bg">
            <a:extLst xmlns:a="http://schemas.openxmlformats.org/drawingml/2006/main">
              <a:ext uri="{FF2B5EF4-FFF2-40B4-BE49-F238E27FC236}">
                <a16:creationId xmlns:a16="http://schemas.microsoft.com/office/drawing/2014/main" id="{74FE38F2-449D-4882-BF67-849C770A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9590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2-predict-title">
            <a:extLst xmlns:a="http://schemas.openxmlformats.org/drawingml/2006/main">
              <a:ext uri="{FF2B5EF4-FFF2-40B4-BE49-F238E27FC236}">
                <a16:creationId xmlns:a16="http://schemas.microsoft.com/office/drawing/2014/main" id="{12B8F269-2164-4DC4-8CF2-EB4B5A30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02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Predict: explainable transitions</a:t>
            </a:r>
          </a:p>
        </p:txBody>
      </p:sp>
      <p:sp>
        <p:nvSpPr>
          <p:cNvPr id="12" name="e2-predict-body">
            <a:extLst xmlns:a="http://schemas.openxmlformats.org/drawingml/2006/main">
              <a:ext uri="{FF2B5EF4-FFF2-40B4-BE49-F238E27FC236}">
                <a16:creationId xmlns:a16="http://schemas.microsoft.com/office/drawing/2014/main" id="{3ED1D7B4-34E1-4E8C-AC1E-31CE6D42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33575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205 sequences • 140 train / 30 val / 35 test</a:t>
            </a:r>
          </a:p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780 test prediction points • 566-way train vocabulary</a:t>
            </a:r>
          </a:p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Markov is 5.2× the kill-chain baseline.</a:t>
            </a:r>
          </a:p>
        </p:txBody>
      </p:sp>
      <p:sp>
        <p:nvSpPr>
          <p:cNvPr id="13" name="e2-represent-title">
            <a:extLst xmlns:a="http://schemas.openxmlformats.org/drawingml/2006/main">
              <a:ext uri="{FF2B5EF4-FFF2-40B4-BE49-F238E27FC236}">
                <a16:creationId xmlns:a16="http://schemas.microsoft.com/office/drawing/2014/main" id="{94ED94B3-9201-444B-8455-6BBD42DC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Represent: MiniLM technique space</a:t>
            </a:r>
          </a:p>
        </p:txBody>
      </p:sp>
      <p:sp>
        <p:nvSpPr>
          <p:cNvPr id="14" name="e2-represent-body">
            <a:extLst xmlns:a="http://schemas.openxmlformats.org/drawingml/2006/main">
              <a:ext uri="{FF2B5EF4-FFF2-40B4-BE49-F238E27FC236}">
                <a16:creationId xmlns:a16="http://schemas.microsoft.com/office/drawing/2014/main" id="{C4A4CECF-9FD4-4452-99E2-01333635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62325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918 ATT&amp;CK descriptions • 384 dimensions</a:t>
            </a:r>
          </a:p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Mean same-tactic cosine 0.412 vs random 0.327</a:t>
            </a:r>
          </a:p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Embeddings ship precomputed; no Torch at runtime.</a:t>
            </a:r>
          </a:p>
        </p:txBody>
      </p:sp>
      <p:sp>
        <p:nvSpPr>
          <p:cNvPr id="15" name="e2-attribute-title">
            <a:extLst xmlns:a="http://schemas.openxmlformats.org/drawingml/2006/main">
              <a:ext uri="{FF2B5EF4-FFF2-40B4-BE49-F238E27FC236}">
                <a16:creationId xmlns:a16="http://schemas.microsoft.com/office/drawing/2014/main" id="{E0280C95-ACFC-4261-97C3-0E7665B6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Attribute: transparent retrieval</a:t>
            </a:r>
          </a:p>
        </p:txBody>
      </p:sp>
      <p:sp>
        <p:nvSpPr>
          <p:cNvPr id="16" name="e2-attribute-body">
            <a:extLst xmlns:a="http://schemas.openxmlformats.org/drawingml/2006/main">
              <a:ext uri="{FF2B5EF4-FFF2-40B4-BE49-F238E27FC236}">
                <a16:creationId xmlns:a16="http://schemas.microsoft.com/office/drawing/2014/main" id="{EBD5A8DB-4909-4667-843A-464C1B82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172 actor profiles</a:t>
            </a:r>
          </a:p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55% coverage + 20% Jaccard + 25% semantic</a:t>
            </a:r>
          </a:p>
          <a:p xmlns:a="http://schemas.openxmlformats.org/drawingml/2006/main">
            <a:pPr algn="l">
              <a:defRPr sz="1200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Returns matched techniques and a templated justification.</a:t>
            </a:r>
          </a:p>
        </p:txBody>
      </p:sp>
      <p:sp>
        <p:nvSpPr>
          <p:cNvPr id="17" name="e2-caveat-text">
            <a:extLst xmlns:a="http://schemas.openxmlformats.org/drawingml/2006/main">
              <a:ext uri="{FF2B5EF4-FFF2-40B4-BE49-F238E27FC236}">
                <a16:creationId xmlns:a16="http://schemas.microsoft.com/office/drawing/2014/main" id="{C85C84F8-6AD4-43F1-8E5F-8E812DB9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NON-CIRCULAR CHECK: 4 manual report-ordered sequences score 10.0% top-3 — small, hard, and kept visible.</a:t>
            </a:r>
          </a:p>
        </p:txBody>
      </p:sp>
    </p:spTree>
    <p:extLst>
      <p:ext uri="{BB962C8B-B14F-4D97-AF65-F5344CB8AC3E}">
        <p14:creationId xmlns:p14="http://schemas.microsoft.com/office/powerpoint/2010/main" val="8039467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6" name="spine-link-0"/>
          <p:cNvCxnSpPr/>
          <p:nvPr/>
        </p:nvCxnSpPr>
        <p:spPr>
          <a:xfrm xmlns:a="http://schemas.openxmlformats.org/drawingml/2006/main">
            <a:off x="2019300" y="2514600"/>
            <a:ext cx="3238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7" name="spine-link-1"/>
          <p:cNvCxnSpPr/>
          <p:nvPr/>
        </p:nvCxnSpPr>
        <p:spPr>
          <a:xfrm xmlns:a="http://schemas.openxmlformats.org/drawingml/2006/main">
            <a:off x="3905250" y="2514600"/>
            <a:ext cx="3238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8" name="spine-link-2"/>
          <p:cNvCxnSpPr/>
          <p:nvPr/>
        </p:nvCxnSpPr>
        <p:spPr>
          <a:xfrm xmlns:a="http://schemas.openxmlformats.org/drawingml/2006/main">
            <a:off x="5791200" y="2514600"/>
            <a:ext cx="3238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9" name="spine-link-3"/>
          <p:cNvCxnSpPr/>
          <p:nvPr/>
        </p:nvCxnSpPr>
        <p:spPr>
          <a:xfrm xmlns:a="http://schemas.openxmlformats.org/drawingml/2006/main">
            <a:off x="7677150" y="2514600"/>
            <a:ext cx="3238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0" name="spine-link-4"/>
          <p:cNvCxnSpPr/>
          <p:nvPr/>
        </p:nvCxnSpPr>
        <p:spPr>
          <a:xfrm xmlns:a="http://schemas.openxmlformats.org/drawingml/2006/main">
            <a:off x="9563100" y="2514600"/>
            <a:ext cx="3238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spine-step-0">
            <a:extLst xmlns:a="http://schemas.openxmlformats.org/drawingml/2006/main">
              <a:ext uri="{FF2B5EF4-FFF2-40B4-BE49-F238E27FC236}">
                <a16:creationId xmlns:a16="http://schemas.microsoft.com/office/drawing/2014/main" id="{8F2B5CDA-315D-46B1-98F3-DBE9F09F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1562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pine-step-1">
            <a:extLst xmlns:a="http://schemas.openxmlformats.org/drawingml/2006/main">
              <a:ext uri="{FF2B5EF4-FFF2-40B4-BE49-F238E27FC236}">
                <a16:creationId xmlns:a16="http://schemas.microsoft.com/office/drawing/2014/main" id="{5CA201EB-749B-4287-8C5F-A5F688C8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28800"/>
            <a:ext cx="1562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spine-step-2">
            <a:extLst xmlns:a="http://schemas.openxmlformats.org/drawingml/2006/main">
              <a:ext uri="{FF2B5EF4-FFF2-40B4-BE49-F238E27FC236}">
                <a16:creationId xmlns:a16="http://schemas.microsoft.com/office/drawing/2014/main" id="{0B275CC4-38E1-4476-84F2-EFB2D51C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28800"/>
            <a:ext cx="1562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spine-step-3">
            <a:extLst xmlns:a="http://schemas.openxmlformats.org/drawingml/2006/main">
              <a:ext uri="{FF2B5EF4-FFF2-40B4-BE49-F238E27FC236}">
                <a16:creationId xmlns:a16="http://schemas.microsoft.com/office/drawing/2014/main" id="{8C9837AC-5AC4-4680-95EE-5F767DE7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28800"/>
            <a:ext cx="1562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pine-step-4">
            <a:extLst xmlns:a="http://schemas.openxmlformats.org/drawingml/2006/main">
              <a:ext uri="{FF2B5EF4-FFF2-40B4-BE49-F238E27FC236}">
                <a16:creationId xmlns:a16="http://schemas.microsoft.com/office/drawing/2014/main" id="{935BED86-C12F-40EB-84E2-A5DF785C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1562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pine-step-5">
            <a:extLst xmlns:a="http://schemas.openxmlformats.org/drawingml/2006/main">
              <a:ext uri="{FF2B5EF4-FFF2-40B4-BE49-F238E27FC236}">
                <a16:creationId xmlns:a16="http://schemas.microsoft.com/office/drawing/2014/main" id="{C9E043EB-0EBC-40EC-A0B0-E7DB46FA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28800"/>
            <a:ext cx="1562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pine-output">
            <a:extLst xmlns:a="http://schemas.openxmlformats.org/drawingml/2006/main">
              <a:ext uri="{FF2B5EF4-FFF2-40B4-BE49-F238E27FC236}">
                <a16:creationId xmlns:a16="http://schemas.microsoft.com/office/drawing/2014/main" id="{1FE4B1E3-DF09-4ECE-81F3-363FC50E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11277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pine-stat-1">
            <a:extLst xmlns:a="http://schemas.openxmlformats.org/drawingml/2006/main">
              <a:ext uri="{FF2B5EF4-FFF2-40B4-BE49-F238E27FC236}">
                <a16:creationId xmlns:a16="http://schemas.microsoft.com/office/drawing/2014/main" id="{B340536D-90EF-48EA-B9EF-91ED199C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1100"/>
            <a:ext cx="3486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pine-stat-2">
            <a:extLst xmlns:a="http://schemas.openxmlformats.org/drawingml/2006/main">
              <a:ext uri="{FF2B5EF4-FFF2-40B4-BE49-F238E27FC236}">
                <a16:creationId xmlns:a16="http://schemas.microsoft.com/office/drawing/2014/main" id="{14CD7B6D-BF6B-455F-A476-0C178E91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991100"/>
            <a:ext cx="3486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pine-stat-3">
            <a:extLst xmlns:a="http://schemas.openxmlformats.org/drawingml/2006/main">
              <a:ext uri="{FF2B5EF4-FFF2-40B4-BE49-F238E27FC236}">
                <a16:creationId xmlns:a16="http://schemas.microsoft.com/office/drawing/2014/main" id="{DA454BEB-088C-447C-AAB8-DEA6F0DA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91100"/>
            <a:ext cx="3486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AEE416C9-CF71-4956-879D-0D032081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shared spine turns weak signals into one decision path</a:t>
            </a:r>
          </a:p>
        </p:txBody>
      </p:sp>
      <p:sp>
        <p:nvSpPr>
          <p:cNvPr id="17" name="slide-8-accent">
            <a:extLst xmlns:a="http://schemas.openxmlformats.org/drawingml/2006/main">
              <a:ext uri="{FF2B5EF4-FFF2-40B4-BE49-F238E27FC236}">
                <a16:creationId xmlns:a16="http://schemas.microsoft.com/office/drawing/2014/main" id="{C72BE40B-0484-4E15-A0AE-CA7EF06B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lide-8-source">
            <a:extLst xmlns:a="http://schemas.openxmlformats.org/drawingml/2006/main">
              <a:ext uri="{FF2B5EF4-FFF2-40B4-BE49-F238E27FC236}">
                <a16:creationId xmlns:a16="http://schemas.microsoft.com/office/drawing/2014/main" id="{4EB1B038-7C55-4357-B9A5-E4541A28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Sources: live_analyze.py; views.py; App.jsx; verified campaign rerun on 19 Jul 2026.</a:t>
            </a:r>
          </a:p>
        </p:txBody>
      </p:sp>
      <p:sp>
        <p:nvSpPr>
          <p:cNvPr id="19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935BAA89-A2CA-41CA-8865-BD7806B4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0" name="spine-step-num-0">
            <a:extLst xmlns:a="http://schemas.openxmlformats.org/drawingml/2006/main">
              <a:ext uri="{FF2B5EF4-FFF2-40B4-BE49-F238E27FC236}">
                <a16:creationId xmlns:a16="http://schemas.microsoft.com/office/drawing/2014/main" id="{3716918C-6F2E-4824-9F7C-8B9874F9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spine-step-title-0">
            <a:extLst xmlns:a="http://schemas.openxmlformats.org/drawingml/2006/main">
              <a:ext uri="{FF2B5EF4-FFF2-40B4-BE49-F238E27FC236}">
                <a16:creationId xmlns:a16="http://schemas.microsoft.com/office/drawing/2014/main" id="{2B0E1953-C3F8-461C-99A8-A194E771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22" name="spine-step-body-0">
            <a:extLst xmlns:a="http://schemas.openxmlformats.org/drawingml/2006/main">
              <a:ext uri="{FF2B5EF4-FFF2-40B4-BE49-F238E27FC236}">
                <a16:creationId xmlns:a16="http://schemas.microsoft.com/office/drawing/2014/main" id="{B27A4A45-5017-4DBE-B716-F8CB161A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170"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12-field schema</a:t>
            </a:r>
          </a:p>
          <a:p xmlns:a="http://schemas.openxmlformats.org/drawingml/2006/main">
            <a:pPr algn="ctr">
              <a:defRPr sz="10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+ trust-boundary checks</a:t>
            </a:r>
          </a:p>
        </p:txBody>
      </p:sp>
      <p:sp>
        <p:nvSpPr>
          <p:cNvPr id="23" name="spine-step-num-1">
            <a:extLst xmlns:a="http://schemas.openxmlformats.org/drawingml/2006/main">
              <a:ext uri="{FF2B5EF4-FFF2-40B4-BE49-F238E27FC236}">
                <a16:creationId xmlns:a16="http://schemas.microsoft.com/office/drawing/2014/main" id="{F80F4928-0AF4-4135-BE3F-62D07FFD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81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4" name="spine-step-title-1">
            <a:extLst xmlns:a="http://schemas.openxmlformats.org/drawingml/2006/main">
              <a:ext uri="{FF2B5EF4-FFF2-40B4-BE49-F238E27FC236}">
                <a16:creationId xmlns:a16="http://schemas.microsoft.com/office/drawing/2014/main" id="{FD3CD445-9E5A-4134-9AA5-DC06148D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860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25" name="spine-step-body-1">
            <a:extLst xmlns:a="http://schemas.openxmlformats.org/drawingml/2006/main">
              <a:ext uri="{FF2B5EF4-FFF2-40B4-BE49-F238E27FC236}">
                <a16:creationId xmlns:a16="http://schemas.microsoft.com/office/drawing/2014/main" id="{D9C490D2-06A8-4284-A346-44698AF7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479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477"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IsolationForest</a:t>
            </a:r>
          </a:p>
          <a:p xmlns:a="http://schemas.openxmlformats.org/drawingml/2006/main">
            <a:pPr algn="ctr">
              <a:defRPr sz="10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fixed 0-100 calibration</a:t>
            </a:r>
          </a:p>
        </p:txBody>
      </p:sp>
      <p:sp>
        <p:nvSpPr>
          <p:cNvPr id="26" name="spine-step-num-2">
            <a:extLst xmlns:a="http://schemas.openxmlformats.org/drawingml/2006/main">
              <a:ext uri="{FF2B5EF4-FFF2-40B4-BE49-F238E27FC236}">
                <a16:creationId xmlns:a16="http://schemas.microsoft.com/office/drawing/2014/main" id="{40222B10-6BCC-4979-B637-9E40E47E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spine-step-title-2">
            <a:extLst xmlns:a="http://schemas.openxmlformats.org/drawingml/2006/main">
              <a:ext uri="{FF2B5EF4-FFF2-40B4-BE49-F238E27FC236}">
                <a16:creationId xmlns:a16="http://schemas.microsoft.com/office/drawing/2014/main" id="{1D078CD8-F008-45E4-8C25-C06F6CE3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CORRELATE</a:t>
            </a:r>
          </a:p>
        </p:txBody>
      </p:sp>
      <p:sp>
        <p:nvSpPr>
          <p:cNvPr id="28" name="spine-step-body-2">
            <a:extLst xmlns:a="http://schemas.openxmlformats.org/drawingml/2006/main">
              <a:ext uri="{FF2B5EF4-FFF2-40B4-BE49-F238E27FC236}">
                <a16:creationId xmlns:a16="http://schemas.microsoft.com/office/drawing/2014/main" id="{5C9E366C-8FF0-42C2-8523-81D5490F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alerts → one</a:t>
            </a:r>
          </a:p>
          <a:p xmlns:a="http://schemas.openxmlformats.org/drawingml/2006/main">
            <a:pPr algn="ctr">
              <a:defRPr sz="10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incident timeline</a:t>
            </a:r>
          </a:p>
        </p:txBody>
      </p:sp>
      <p:sp>
        <p:nvSpPr>
          <p:cNvPr id="29" name="spine-step-num-3">
            <a:extLst xmlns:a="http://schemas.openxmlformats.org/drawingml/2006/main">
              <a:ext uri="{FF2B5EF4-FFF2-40B4-BE49-F238E27FC236}">
                <a16:creationId xmlns:a16="http://schemas.microsoft.com/office/drawing/2014/main" id="{CA27634F-E664-464B-A2B0-ED2B976C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spine-step-title-3">
            <a:extLst xmlns:a="http://schemas.openxmlformats.org/drawingml/2006/main">
              <a:ext uri="{FF2B5EF4-FFF2-40B4-BE49-F238E27FC236}">
                <a16:creationId xmlns:a16="http://schemas.microsoft.com/office/drawing/2014/main" id="{524E1DC2-6258-4025-A09F-BF89FDE0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sp>
        <p:nvSpPr>
          <p:cNvPr id="31" name="spine-step-body-3">
            <a:extLst xmlns:a="http://schemas.openxmlformats.org/drawingml/2006/main">
              <a:ext uri="{FF2B5EF4-FFF2-40B4-BE49-F238E27FC236}">
                <a16:creationId xmlns:a16="http://schemas.microsoft.com/office/drawing/2014/main" id="{0B46F8D9-BE5F-42AB-8B22-813BBBCB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ATT&amp;CK IDs +</a:t>
            </a:r>
          </a:p>
          <a:p xmlns:a="http://schemas.openxmlformats.org/drawingml/2006/main">
            <a:pPr algn="ctr">
              <a:defRPr sz="10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real descriptions</a:t>
            </a:r>
          </a:p>
        </p:txBody>
      </p:sp>
      <p:sp>
        <p:nvSpPr>
          <p:cNvPr id="32" name="spine-step-num-4">
            <a:extLst xmlns:a="http://schemas.openxmlformats.org/drawingml/2006/main">
              <a:ext uri="{FF2B5EF4-FFF2-40B4-BE49-F238E27FC236}">
                <a16:creationId xmlns:a16="http://schemas.microsoft.com/office/drawing/2014/main" id="{28331542-4678-4FB4-BC09-922B336B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81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spine-step-title-4">
            <a:extLst xmlns:a="http://schemas.openxmlformats.org/drawingml/2006/main">
              <a:ext uri="{FF2B5EF4-FFF2-40B4-BE49-F238E27FC236}">
                <a16:creationId xmlns:a16="http://schemas.microsoft.com/office/drawing/2014/main" id="{E52EECC6-A8BD-4281-9C4B-6A67285D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860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34" name="spine-step-body-4">
            <a:extLst xmlns:a="http://schemas.openxmlformats.org/drawingml/2006/main">
              <a:ext uri="{FF2B5EF4-FFF2-40B4-BE49-F238E27FC236}">
                <a16:creationId xmlns:a16="http://schemas.microsoft.com/office/drawing/2014/main" id="{B435229A-E9E9-4CA3-8660-0DF5E501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graph + next move</a:t>
            </a:r>
          </a:p>
          <a:p xmlns:a="http://schemas.openxmlformats.org/drawingml/2006/main">
            <a:pPr algn="ctr">
              <a:defRPr sz="10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+ actor profile</a:t>
            </a:r>
          </a:p>
        </p:txBody>
      </p:sp>
      <p:sp>
        <p:nvSpPr>
          <p:cNvPr id="35" name="spine-step-num-5">
            <a:extLst xmlns:a="http://schemas.openxmlformats.org/drawingml/2006/main">
              <a:ext uri="{FF2B5EF4-FFF2-40B4-BE49-F238E27FC236}">
                <a16:creationId xmlns:a16="http://schemas.microsoft.com/office/drawing/2014/main" id="{181ADC4B-B16A-4978-956D-A2A76178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981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6" name="spine-step-title-5">
            <a:extLst xmlns:a="http://schemas.openxmlformats.org/drawingml/2006/main">
              <a:ext uri="{FF2B5EF4-FFF2-40B4-BE49-F238E27FC236}">
                <a16:creationId xmlns:a16="http://schemas.microsoft.com/office/drawing/2014/main" id="{83B40F8B-5A45-4B81-884B-ADD5BAFB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860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37" name="spine-step-body-5">
            <a:extLst xmlns:a="http://schemas.openxmlformats.org/drawingml/2006/main">
              <a:ext uri="{FF2B5EF4-FFF2-40B4-BE49-F238E27FC236}">
                <a16:creationId xmlns:a16="http://schemas.microsoft.com/office/drawing/2014/main" id="{48EB70BF-DB7D-46B6-9FF5-2CEBA54E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4795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gated SOAR +</a:t>
            </a:r>
          </a:p>
          <a:p xmlns:a="http://schemas.openxmlformats.org/drawingml/2006/main">
            <a:pPr algn="ctr">
              <a:defRPr sz="10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audit report</a:t>
            </a:r>
          </a:p>
        </p:txBody>
      </p:sp>
      <p:sp>
        <p:nvSpPr>
          <p:cNvPr id="38" name="spine-output-title">
            <a:extLst xmlns:a="http://schemas.openxmlformats.org/drawingml/2006/main">
              <a:ext uri="{FF2B5EF4-FFF2-40B4-BE49-F238E27FC236}">
                <a16:creationId xmlns:a16="http://schemas.microsoft.com/office/drawing/2014/main" id="{DCE8EED8-8590-4083-8113-BAA73C55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ONE LIVE ANALYSIS BUNDLE POWERS NINE OPERATIONAL VIEWS</a:t>
            </a:r>
          </a:p>
        </p:txBody>
      </p:sp>
      <p:sp>
        <p:nvSpPr>
          <p:cNvPr id="39" name="spine-output-body">
            <a:extLst xmlns:a="http://schemas.openxmlformats.org/drawingml/2006/main">
              <a:ext uri="{FF2B5EF4-FFF2-40B4-BE49-F238E27FC236}">
                <a16:creationId xmlns:a16="http://schemas.microsoft.com/office/drawing/2014/main" id="{5DE35B56-781B-4F9E-8C5D-4370D274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Analyze / upload  •  command overview  •  attackers  •  incident replay + SSE  •  attack graph  •  attribution  •  threat radar  •  metrics  •  methodology</a:t>
            </a:r>
          </a:p>
        </p:txBody>
      </p:sp>
      <p:sp>
        <p:nvSpPr>
          <p:cNvPr id="40" name="spine-stat-value-0">
            <a:extLst xmlns:a="http://schemas.openxmlformats.org/drawingml/2006/main">
              <a:ext uri="{FF2B5EF4-FFF2-40B4-BE49-F238E27FC236}">
                <a16:creationId xmlns:a16="http://schemas.microsoft.com/office/drawing/2014/main" id="{44930850-D9C5-425E-B043-37319A07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2,732 → 1</a:t>
            </a:r>
          </a:p>
        </p:txBody>
      </p:sp>
      <p:sp>
        <p:nvSpPr>
          <p:cNvPr id="41" name="spine-stat-caption-0">
            <a:extLst xmlns:a="http://schemas.openxmlformats.org/drawingml/2006/main">
              <a:ext uri="{FF2B5EF4-FFF2-40B4-BE49-F238E27FC236}">
                <a16:creationId xmlns:a16="http://schemas.microsoft.com/office/drawing/2014/main" id="{6C6D8F12-2942-47CB-8FFF-9DE80B0B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572"/>
          </a:bodyPr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events analyzed into one campaign story</a:t>
            </a:r>
          </a:p>
          <a:p xmlns:a="http://schemas.openxmlformats.org/drawingml/2006/main">
            <a:pPr algn="ctr">
              <a:defRPr sz="1088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(1,192 scored as alerts)</a:t>
            </a:r>
          </a:p>
        </p:txBody>
      </p:sp>
      <p:sp>
        <p:nvSpPr>
          <p:cNvPr id="42" name="spine-stat-value-1">
            <a:extLst xmlns:a="http://schemas.openxmlformats.org/drawingml/2006/main">
              <a:ext uri="{FF2B5EF4-FFF2-40B4-BE49-F238E27FC236}">
                <a16:creationId xmlns:a16="http://schemas.microsoft.com/office/drawing/2014/main" id="{BE9EDDE5-D74C-4726-B690-49BE82F4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21970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104 accounts</a:t>
            </a:r>
          </a:p>
        </p:txBody>
      </p:sp>
      <p:sp>
        <p:nvSpPr>
          <p:cNvPr id="43" name="spine-stat-caption-1">
            <a:extLst xmlns:a="http://schemas.openxmlformats.org/drawingml/2006/main">
              <a:ext uri="{FF2B5EF4-FFF2-40B4-BE49-F238E27FC236}">
                <a16:creationId xmlns:a16="http://schemas.microsoft.com/office/drawing/2014/main" id="{7DCB436A-9F09-43ED-BBF9-C3CC1359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7912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572"/>
          </a:bodyPr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tracked across four attacker pivots</a:t>
            </a:r>
          </a:p>
          <a:p xmlns:a="http://schemas.openxmlformats.org/drawingml/2006/main">
            <a:pPr algn="ctr">
              <a:defRPr sz="1088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with one consistent incident context</a:t>
            </a:r>
          </a:p>
        </p:txBody>
      </p:sp>
      <p:sp>
        <p:nvSpPr>
          <p:cNvPr id="44" name="spine-stat-value-2">
            <a:extLst xmlns:a="http://schemas.openxmlformats.org/drawingml/2006/main">
              <a:ext uri="{FF2B5EF4-FFF2-40B4-BE49-F238E27FC236}">
                <a16:creationId xmlns:a16="http://schemas.microsoft.com/office/drawing/2014/main" id="{0551E5F9-2970-4CC1-9AC0-916DD259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1970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479 / 502</a:t>
            </a:r>
          </a:p>
        </p:txBody>
      </p:sp>
      <p:sp>
        <p:nvSpPr>
          <p:cNvPr id="45" name="spine-stat-caption-2">
            <a:extLst xmlns:a="http://schemas.openxmlformats.org/drawingml/2006/main">
              <a:ext uri="{FF2B5EF4-FFF2-40B4-BE49-F238E27FC236}">
                <a16:creationId xmlns:a16="http://schemas.microsoft.com/office/drawing/2014/main" id="{7EED45B5-6AA9-440A-BC1E-D9D603B4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912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572"/>
          </a:bodyPr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host nodes / movement edges</a:t>
            </a:r>
          </a:p>
          <a:p xmlns:a="http://schemas.openxmlformats.org/drawingml/2006/main">
            <a:pPr algn="ctr">
              <a:defRPr sz="1088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backed by drill-down event evidence</a:t>
            </a:r>
          </a:p>
        </p:txBody>
      </p:sp>
    </p:spTree>
    <p:extLst>
      <p:ext uri="{BB962C8B-B14F-4D97-AF65-F5344CB8AC3E}">
        <p14:creationId xmlns:p14="http://schemas.microsoft.com/office/powerpoint/2010/main" val="1186099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feas-stat-1">
            <a:extLst xmlns:a="http://schemas.openxmlformats.org/drawingml/2006/main">
              <a:ext uri="{FF2B5EF4-FFF2-40B4-BE49-F238E27FC236}">
                <a16:creationId xmlns:a16="http://schemas.microsoft.com/office/drawing/2014/main" id="{93EFE85C-73B7-4692-88FE-AEBAC148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486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eas-stat-2">
            <a:extLst xmlns:a="http://schemas.openxmlformats.org/drawingml/2006/main">
              <a:ext uri="{FF2B5EF4-FFF2-40B4-BE49-F238E27FC236}">
                <a16:creationId xmlns:a16="http://schemas.microsoft.com/office/drawing/2014/main" id="{F021EEC9-C7E0-485D-8675-5A7D09E8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428750"/>
            <a:ext cx="3486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eas-stat-3">
            <a:extLst xmlns:a="http://schemas.openxmlformats.org/drawingml/2006/main">
              <a:ext uri="{FF2B5EF4-FFF2-40B4-BE49-F238E27FC236}">
                <a16:creationId xmlns:a16="http://schemas.microsoft.com/office/drawing/2014/main" id="{3BDDEE09-7DB9-4006-AEFB-DFEA6747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486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eas-ready">
            <a:extLst xmlns:a="http://schemas.openxmlformats.org/drawingml/2006/main">
              <a:ext uri="{FF2B5EF4-FFF2-40B4-BE49-F238E27FC236}">
                <a16:creationId xmlns:a16="http://schemas.microsoft.com/office/drawing/2014/main" id="{8448DF8B-C3AF-471D-AACC-68CF153B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539115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E7F6F0"/>
          </a:solidFill>
          <a:ln xmlns:a="http://schemas.openxmlformats.org/drawingml/2006/main" w="9525">
            <a:solidFill>
              <a:srgbClr val="0E8A5F"/>
            </a:solidFill>
            <a:prstDash val="solid"/>
          </a:ln>
        </p:spPr>
      </p:sp>
      <p:sp>
        <p:nvSpPr>
          <p:cNvPr id="5" name="feas-gaps">
            <a:extLst xmlns:a="http://schemas.openxmlformats.org/drawingml/2006/main">
              <a:ext uri="{FF2B5EF4-FFF2-40B4-BE49-F238E27FC236}">
                <a16:creationId xmlns:a16="http://schemas.microsoft.com/office/drawing/2014/main" id="{28DA5195-4245-42EC-8C4C-9A58B920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539115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A85A00"/>
            </a:solidFill>
            <a:prstDash val="solid"/>
          </a:ln>
        </p:spPr>
      </p:sp>
      <p:sp>
        <p:nvSpPr>
          <p:cNvPr id="6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4B2C17D-4547-44C7-AA2F-1AB246F5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prototype is feasible—and honest about production gaps</a:t>
            </a:r>
          </a:p>
        </p:txBody>
      </p:sp>
      <p:sp>
        <p:nvSpPr>
          <p:cNvPr id="7" name="slide-9-accent">
            <a:extLst xmlns:a="http://schemas.openxmlformats.org/drawingml/2006/main">
              <a:ext uri="{FF2B5EF4-FFF2-40B4-BE49-F238E27FC236}">
                <a16:creationId xmlns:a16="http://schemas.microsoft.com/office/drawing/2014/main" id="{C615CA05-39F8-4C3C-A26B-590D9340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lide-9-source">
            <a:extLst xmlns:a="http://schemas.openxmlformats.org/drawingml/2006/main">
              <a:ext uri="{FF2B5EF4-FFF2-40B4-BE49-F238E27FC236}">
                <a16:creationId xmlns:a16="http://schemas.microsoft.com/office/drawing/2014/main" id="{44EEB865-62FE-444A-8B37-CC13D590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Verification: 29 tests + frontend build on 19 Jul 2026. Industry context: M-Trends 2025.</a:t>
            </a:r>
          </a:p>
        </p:txBody>
      </p:sp>
      <p:sp>
        <p:nvSpPr>
          <p:cNvPr id="9" name="slide-9-page">
            <a:extLst xmlns:a="http://schemas.openxmlformats.org/drawingml/2006/main">
              <a:ext uri="{FF2B5EF4-FFF2-40B4-BE49-F238E27FC236}">
                <a16:creationId xmlns:a16="http://schemas.microsoft.com/office/drawing/2014/main" id="{0AEF6223-83E7-4B8C-9DB1-78A13F85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0" name="feas-value-0">
            <a:extLst xmlns:a="http://schemas.openxmlformats.org/drawingml/2006/main">
              <a:ext uri="{FF2B5EF4-FFF2-40B4-BE49-F238E27FC236}">
                <a16:creationId xmlns:a16="http://schemas.microsoft.com/office/drawing/2014/main" id="{01ACFCED-1D37-4228-8055-AE0884FC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764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29 / 29</a:t>
            </a:r>
          </a:p>
        </p:txBody>
      </p:sp>
      <p:sp>
        <p:nvSpPr>
          <p:cNvPr id="11" name="feas-caption-0">
            <a:extLst xmlns:a="http://schemas.openxmlformats.org/drawingml/2006/main">
              <a:ext uri="{FF2B5EF4-FFF2-40B4-BE49-F238E27FC236}">
                <a16:creationId xmlns:a16="http://schemas.microsoft.com/office/drawing/2014/main" id="{BA99349D-C43E-445A-8EC4-DDF1754E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028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backend tests passed</a:t>
            </a:r>
          </a:p>
          <a:p xmlns:a="http://schemas.openxmlformats.org/drawingml/2006/main">
            <a:pPr algn="ctr">
              <a:defRPr sz="11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+ production frontend built</a:t>
            </a:r>
          </a:p>
        </p:txBody>
      </p:sp>
      <p:sp>
        <p:nvSpPr>
          <p:cNvPr id="12" name="feas-value-1">
            <a:extLst xmlns:a="http://schemas.openxmlformats.org/drawingml/2006/main">
              <a:ext uri="{FF2B5EF4-FFF2-40B4-BE49-F238E27FC236}">
                <a16:creationId xmlns:a16="http://schemas.microsoft.com/office/drawing/2014/main" id="{BCE24F19-5EEC-4C79-AB4D-B958DAC2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764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463</a:t>
            </a:r>
          </a:p>
        </p:txBody>
      </p:sp>
      <p:sp>
        <p:nvSpPr>
          <p:cNvPr id="13" name="feas-caption-1">
            <a:extLst xmlns:a="http://schemas.openxmlformats.org/drawingml/2006/main">
              <a:ext uri="{FF2B5EF4-FFF2-40B4-BE49-F238E27FC236}">
                <a16:creationId xmlns:a16="http://schemas.microsoft.com/office/drawing/2014/main" id="{7EF89441-C659-42E4-AA8C-267E67E7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05050"/>
            <a:ext cx="3028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downstream hosts severed</a:t>
            </a:r>
          </a:p>
          <a:p xmlns:a="http://schemas.openxmlformats.org/drawingml/2006/main">
            <a:pPr algn="ctr">
              <a:defRPr sz="11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in the modeled graph by isolating C17693</a:t>
            </a:r>
          </a:p>
        </p:txBody>
      </p:sp>
      <p:sp>
        <p:nvSpPr>
          <p:cNvPr id="14" name="feas-value-2">
            <a:extLst xmlns:a="http://schemas.openxmlformats.org/drawingml/2006/main">
              <a:ext uri="{FF2B5EF4-FFF2-40B4-BE49-F238E27FC236}">
                <a16:creationId xmlns:a16="http://schemas.microsoft.com/office/drawing/2014/main" id="{F7109337-F5ED-43C0-9A56-E8395B9A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6764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≤ 50k</a:t>
            </a:r>
          </a:p>
        </p:txBody>
      </p:sp>
      <p:sp>
        <p:nvSpPr>
          <p:cNvPr id="15" name="feas-caption-2">
            <a:extLst xmlns:a="http://schemas.openxmlformats.org/drawingml/2006/main">
              <a:ext uri="{FF2B5EF4-FFF2-40B4-BE49-F238E27FC236}">
                <a16:creationId xmlns:a16="http://schemas.microsoft.com/office/drawing/2014/main" id="{5BB38727-52F7-43D5-A1E9-CAD90D11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3028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rows accepted per live upload</a:t>
            </a:r>
          </a:p>
          <a:p xmlns:a="http://schemas.openxmlformats.org/drawingml/2006/main">
            <a:pPr algn="ctr">
              <a:defRPr sz="11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through an explicit trust boundary</a:t>
            </a:r>
          </a:p>
        </p:txBody>
      </p:sp>
      <p:sp>
        <p:nvSpPr>
          <p:cNvPr id="16" name="feas-ready-title">
            <a:extLst xmlns:a="http://schemas.openxmlformats.org/drawingml/2006/main">
              <a:ext uri="{FF2B5EF4-FFF2-40B4-BE49-F238E27FC236}">
                <a16:creationId xmlns:a16="http://schemas.microsoft.com/office/drawing/2014/main" id="{1D307183-A96E-41F9-AD7D-042BA1E0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E8A5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E8A5F"/>
                </a:solidFill>
                <a:latin typeface="Arial"/>
                <a:ea typeface="Arial"/>
                <a:cs typeface="Arial"/>
              </a:rPr>
              <a:t>FEASIBLE NOW</a:t>
            </a:r>
          </a:p>
        </p:txBody>
      </p:sp>
      <p:sp>
        <p:nvSpPr>
          <p:cNvPr id="17" name="feas-ready-body">
            <a:extLst xmlns:a="http://schemas.openxmlformats.org/drawingml/2006/main">
              <a:ext uri="{FF2B5EF4-FFF2-40B4-BE49-F238E27FC236}">
                <a16:creationId xmlns:a16="http://schemas.microsoft.com/office/drawing/2014/main" id="{C75D53BF-8336-475A-B101-C58CAB35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6196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FastAPI + React; single-container design</a:t>
            </a:r>
          </a:p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Slim inference: no Torch / MiniLM runtime</a:t>
            </a:r>
          </a:p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Models, ATT&amp;CK lookups and demos ship locally</a:t>
            </a:r>
          </a:p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CSV / scenario analysis with cached fallback</a:t>
            </a:r>
          </a:p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Every recommendation remains reviewable</a:t>
            </a:r>
          </a:p>
        </p:txBody>
      </p:sp>
      <p:sp>
        <p:nvSpPr>
          <p:cNvPr id="18" name="feas-gaps-title">
            <a:extLst xmlns:a="http://schemas.openxmlformats.org/drawingml/2006/main">
              <a:ext uri="{FF2B5EF4-FFF2-40B4-BE49-F238E27FC236}">
                <a16:creationId xmlns:a16="http://schemas.microsoft.com/office/drawing/2014/main" id="{9DC0C04C-005A-46B2-BF6B-FC7DC9C7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337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A85A00"/>
                </a:solidFill>
                <a:latin typeface="Arial"/>
                <a:ea typeface="Arial"/>
                <a:cs typeface="Arial"/>
              </a:rPr>
              <a:t>BEFORE PRODUCTION</a:t>
            </a:r>
          </a:p>
        </p:txBody>
      </p:sp>
      <p:sp>
        <p:nvSpPr>
          <p:cNvPr id="19" name="feas-gaps-body">
            <a:extLst xmlns:a="http://schemas.openxmlformats.org/drawingml/2006/main">
              <a:ext uri="{FF2B5EF4-FFF2-40B4-BE49-F238E27FC236}">
                <a16:creationId xmlns:a16="http://schemas.microsoft.com/office/drawing/2014/main" id="{8C8E71B5-86A5-4489-B3E1-D5FAD870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00500"/>
            <a:ext cx="46196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Add identity, RBAC, tenancy and immutable audit storage</a:t>
            </a:r>
          </a:p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Validate Docker / cloud deployment end-to-end</a:t>
            </a:r>
          </a:p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Pin and monitor model/runtime compatibility</a:t>
            </a:r>
          </a:p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Connect real OT / SIEM sources and streaming features</a:t>
            </a:r>
          </a:p>
          <a:p xmlns:a="http://schemas.openxmlformats.org/drawingml/2006/main">
            <a: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Benchmark MTTR and attribution on independent telemetry</a:t>
            </a:r>
          </a:p>
        </p:txBody>
      </p:sp>
      <p:sp>
        <p:nvSpPr>
          <p:cNvPr id="20" name="feas-industry">
            <a:extLst xmlns:a="http://schemas.openxmlformats.org/drawingml/2006/main">
              <a:ext uri="{FF2B5EF4-FFF2-40B4-BE49-F238E27FC236}">
                <a16:creationId xmlns:a16="http://schemas.microsoft.com/office/drawing/2014/main" id="{80A4BDDD-EBC6-412F-B9AA-ACD6E392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Context, not a claim: M-Trends 2025 reports an 11-day global median dwell time for 2024. The demo’s ‘immediate’ alert is measured only inside its sampled log.</a:t>
            </a:r>
          </a:p>
        </p:txBody>
      </p:sp>
    </p:spTree>
    <p:extLst>
      <p:ext uri="{BB962C8B-B14F-4D97-AF65-F5344CB8AC3E}">
        <p14:creationId xmlns:p14="http://schemas.microsoft.com/office/powerpoint/2010/main" val="16848608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road-line"/>
          <p:cNvCxnSpPr/>
          <p:nvPr/>
        </p:nvCxnSpPr>
        <p:spPr>
          <a:xfrm xmlns:a="http://schemas.openxmlformats.org/drawingml/2006/main">
            <a:off x="742950" y="2438400"/>
            <a:ext cx="107061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2" name="road-dot-0">
            <a:extLst xmlns:a="http://schemas.openxmlformats.org/drawingml/2006/main">
              <a:ext uri="{FF2B5EF4-FFF2-40B4-BE49-F238E27FC236}">
                <a16:creationId xmlns:a16="http://schemas.microsoft.com/office/drawing/2014/main" id="{804813EA-5868-4F2F-B4F5-BE083444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71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oad-card-0">
            <a:extLst xmlns:a="http://schemas.openxmlformats.org/drawingml/2006/main">
              <a:ext uri="{FF2B5EF4-FFF2-40B4-BE49-F238E27FC236}">
                <a16:creationId xmlns:a16="http://schemas.microsoft.com/office/drawing/2014/main" id="{104DFC8A-0C75-4C13-B744-6630A565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2476500" cy="2952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road-dot-1">
            <a:extLst xmlns:a="http://schemas.openxmlformats.org/drawingml/2006/main">
              <a:ext uri="{FF2B5EF4-FFF2-40B4-BE49-F238E27FC236}">
                <a16:creationId xmlns:a16="http://schemas.microsoft.com/office/drawing/2014/main" id="{4D4A4EDD-1350-49AB-A469-19A6901F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71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oad-card-1">
            <a:extLst xmlns:a="http://schemas.openxmlformats.org/drawingml/2006/main">
              <a:ext uri="{FF2B5EF4-FFF2-40B4-BE49-F238E27FC236}">
                <a16:creationId xmlns:a16="http://schemas.microsoft.com/office/drawing/2014/main" id="{E3FB1D19-F794-4A73-AD26-3CEC232F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9900"/>
            <a:ext cx="2476500" cy="2952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oad-dot-2">
            <a:extLst xmlns:a="http://schemas.openxmlformats.org/drawingml/2006/main">
              <a:ext uri="{FF2B5EF4-FFF2-40B4-BE49-F238E27FC236}">
                <a16:creationId xmlns:a16="http://schemas.microsoft.com/office/drawing/2014/main" id="{03E7ECEF-B205-456D-8A23-39463CAE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71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ad-card-2">
            <a:extLst xmlns:a="http://schemas.openxmlformats.org/drawingml/2006/main">
              <a:ext uri="{FF2B5EF4-FFF2-40B4-BE49-F238E27FC236}">
                <a16:creationId xmlns:a16="http://schemas.microsoft.com/office/drawing/2014/main" id="{31FF0D65-EEF8-49E9-92C4-679BC881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9900"/>
            <a:ext cx="2476500" cy="2952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road-dot-3">
            <a:extLst xmlns:a="http://schemas.openxmlformats.org/drawingml/2006/main">
              <a:ext uri="{FF2B5EF4-FFF2-40B4-BE49-F238E27FC236}">
                <a16:creationId xmlns:a16="http://schemas.microsoft.com/office/drawing/2014/main" id="{DCDCBD64-A06A-4F04-9E47-1CE094BC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71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ad-card-3">
            <a:extLst xmlns:a="http://schemas.openxmlformats.org/drawingml/2006/main">
              <a:ext uri="{FF2B5EF4-FFF2-40B4-BE49-F238E27FC236}">
                <a16:creationId xmlns:a16="http://schemas.microsoft.com/office/drawing/2014/main" id="{E5F90D08-F566-4F1F-8A5E-2B70D62A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9900"/>
            <a:ext cx="2476500" cy="2952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DBC2E699-C797-4729-9460-B4E159AD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four-stage roadmap turns the MVP into CNI infrastructure</a:t>
            </a:r>
          </a:p>
        </p:txBody>
      </p:sp>
      <p:sp>
        <p:nvSpPr>
          <p:cNvPr id="11" name="slide-10-accent">
            <a:extLst xmlns:a="http://schemas.openxmlformats.org/drawingml/2006/main">
              <a:ext uri="{FF2B5EF4-FFF2-40B4-BE49-F238E27FC236}">
                <a16:creationId xmlns:a16="http://schemas.microsoft.com/office/drawing/2014/main" id="{752A490A-7BE7-462A-9E23-E64B76EA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lide-10-source">
            <a:extLst xmlns:a="http://schemas.openxmlformats.org/drawingml/2006/main">
              <a:ext uri="{FF2B5EF4-FFF2-40B4-BE49-F238E27FC236}">
                <a16:creationId xmlns:a16="http://schemas.microsoft.com/office/drawing/2014/main" id="{065BAF3C-1C13-49CB-BC2B-12620372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Roadmap derived from current architecture gaps and the optional PS7 build areas.</a:t>
            </a:r>
          </a:p>
        </p:txBody>
      </p:sp>
      <p:sp>
        <p:nvSpPr>
          <p:cNvPr id="13" name="slide-10-page">
            <a:extLst xmlns:a="http://schemas.openxmlformats.org/drawingml/2006/main">
              <a:ext uri="{FF2B5EF4-FFF2-40B4-BE49-F238E27FC236}">
                <a16:creationId xmlns:a16="http://schemas.microsoft.com/office/drawing/2014/main" id="{DEEED967-0004-40A7-AB43-FB1E450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road-date-0">
            <a:extLst xmlns:a="http://schemas.openxmlformats.org/drawingml/2006/main">
              <a:ext uri="{FF2B5EF4-FFF2-40B4-BE49-F238E27FC236}">
                <a16:creationId xmlns:a16="http://schemas.microsoft.com/office/drawing/2014/main" id="{AEA7585B-9811-49A4-AD4B-3A7B34BB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0–3 MONTHS</a:t>
            </a:r>
          </a:p>
        </p:txBody>
      </p:sp>
      <p:sp>
        <p:nvSpPr>
          <p:cNvPr id="15" name="road-title-0">
            <a:extLst xmlns:a="http://schemas.openxmlformats.org/drawingml/2006/main">
              <a:ext uri="{FF2B5EF4-FFF2-40B4-BE49-F238E27FC236}">
                <a16:creationId xmlns:a16="http://schemas.microsoft.com/office/drawing/2014/main" id="{113EC32F-FD3F-451A-8D91-0B9118CC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PILOT HARDENING</a:t>
            </a:r>
          </a:p>
        </p:txBody>
      </p:sp>
      <p:sp>
        <p:nvSpPr>
          <p:cNvPr id="16" name="road-body-0">
            <a:extLst xmlns:a="http://schemas.openxmlformats.org/drawingml/2006/main">
              <a:ext uri="{FF2B5EF4-FFF2-40B4-BE49-F238E27FC236}">
                <a16:creationId xmlns:a16="http://schemas.microsoft.com/office/drawing/2014/main" id="{938AA918-C9CF-4749-B50E-607EB4DC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981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RBAC + tenancy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Immutable audit store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Pinned model packages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 Docker / cloud validation</a:t>
            </a:r>
          </a:p>
        </p:txBody>
      </p:sp>
      <p:sp>
        <p:nvSpPr>
          <p:cNvPr id="17" name="road-date-1">
            <a:extLst xmlns:a="http://schemas.openxmlformats.org/drawingml/2006/main">
              <a:ext uri="{FF2B5EF4-FFF2-40B4-BE49-F238E27FC236}">
                <a16:creationId xmlns:a16="http://schemas.microsoft.com/office/drawing/2014/main" id="{2CF33E86-4AC8-449B-8522-533B83D6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478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3–6 MONTHS</a:t>
            </a:r>
          </a:p>
        </p:txBody>
      </p:sp>
      <p:sp>
        <p:nvSpPr>
          <p:cNvPr id="18" name="road-title-1">
            <a:extLst xmlns:a="http://schemas.openxmlformats.org/drawingml/2006/main">
              <a:ext uri="{FF2B5EF4-FFF2-40B4-BE49-F238E27FC236}">
                <a16:creationId xmlns:a16="http://schemas.microsoft.com/office/drawing/2014/main" id="{937E977D-E53F-4B8E-89B9-210517E2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766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BREADTH</a:t>
            </a:r>
          </a:p>
        </p:txBody>
      </p:sp>
      <p:sp>
        <p:nvSpPr>
          <p:cNvPr id="19" name="road-body-1">
            <a:extLst xmlns:a="http://schemas.openxmlformats.org/drawingml/2006/main">
              <a:ext uri="{FF2B5EF4-FFF2-40B4-BE49-F238E27FC236}">
                <a16:creationId xmlns:a16="http://schemas.microsoft.com/office/drawing/2014/main" id="{C1B7BF8E-C3D2-40C7-B338-60D46024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81450"/>
            <a:ext cx="1981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Syslog / EDR adapters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OT: OPC-UA / Modbus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 + CVE risk graph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Analyst feedback capture</a:t>
            </a:r>
          </a:p>
        </p:txBody>
      </p:sp>
      <p:sp>
        <p:nvSpPr>
          <p:cNvPr id="20" name="road-date-2">
            <a:extLst xmlns:a="http://schemas.openxmlformats.org/drawingml/2006/main">
              <a:ext uri="{FF2B5EF4-FFF2-40B4-BE49-F238E27FC236}">
                <a16:creationId xmlns:a16="http://schemas.microsoft.com/office/drawing/2014/main" id="{ACCC450B-4533-495F-8AED-14C62B25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6–12 MONTHS</a:t>
            </a:r>
          </a:p>
        </p:txBody>
      </p:sp>
      <p:sp>
        <p:nvSpPr>
          <p:cNvPr id="21" name="road-title-2">
            <a:extLst xmlns:a="http://schemas.openxmlformats.org/drawingml/2006/main">
              <a:ext uri="{FF2B5EF4-FFF2-40B4-BE49-F238E27FC236}">
                <a16:creationId xmlns:a16="http://schemas.microsoft.com/office/drawing/2014/main" id="{76C1C9B7-FFBF-472F-BCC7-87C4ECFC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9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OPERATIONAL SCALE</a:t>
            </a:r>
          </a:p>
        </p:txBody>
      </p:sp>
      <p:sp>
        <p:nvSpPr>
          <p:cNvPr id="22" name="road-body-2">
            <a:extLst xmlns:a="http://schemas.openxmlformats.org/drawingml/2006/main">
              <a:ext uri="{FF2B5EF4-FFF2-40B4-BE49-F238E27FC236}">
                <a16:creationId xmlns:a16="http://schemas.microsoft.com/office/drawing/2014/main" id="{06DE31EB-40CF-45A0-BA22-3C8890D0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81450"/>
            <a:ext cx="1981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True streaming features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Drift / FPR monitoring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 SOAR connectors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Playbook coverage + MTTR</a:t>
            </a:r>
          </a:p>
        </p:txBody>
      </p:sp>
      <p:sp>
        <p:nvSpPr>
          <p:cNvPr id="23" name="road-date-3">
            <a:extLst xmlns:a="http://schemas.openxmlformats.org/drawingml/2006/main">
              <a:ext uri="{FF2B5EF4-FFF2-40B4-BE49-F238E27FC236}">
                <a16:creationId xmlns:a16="http://schemas.microsoft.com/office/drawing/2014/main" id="{4452AED6-8E00-4DA1-BF3D-7D3781E3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478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12+ MONTHS</a:t>
            </a:r>
          </a:p>
        </p:txBody>
      </p:sp>
      <p:sp>
        <p:nvSpPr>
          <p:cNvPr id="24" name="road-title-3">
            <a:extLst xmlns:a="http://schemas.openxmlformats.org/drawingml/2006/main">
              <a:ext uri="{FF2B5EF4-FFF2-40B4-BE49-F238E27FC236}">
                <a16:creationId xmlns:a16="http://schemas.microsoft.com/office/drawing/2014/main" id="{969772E7-43A2-4CDA-94A5-9BF07AC7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766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DIGITAL TWIN</a:t>
            </a:r>
          </a:p>
        </p:txBody>
      </p:sp>
      <p:sp>
        <p:nvSpPr>
          <p:cNvPr id="25" name="road-body-3">
            <a:extLst xmlns:a="http://schemas.openxmlformats.org/drawingml/2006/main">
              <a:ext uri="{FF2B5EF4-FFF2-40B4-BE49-F238E27FC236}">
                <a16:creationId xmlns:a16="http://schemas.microsoft.com/office/drawing/2014/main" id="{01A5300E-5B09-47E5-9EFF-22E50A1C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81450"/>
            <a:ext cx="1981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 attack simulation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graph learning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Federated CNI learning</a:t>
            </a:r>
          </a:p>
          <a:p xmlns:a="http://schemas.openxmlformats.org/drawingml/2006/main">
            <a:pPr algn="ctr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India-first multilingual CTI RAG</a:t>
            </a:r>
          </a:p>
        </p:txBody>
      </p:sp>
      <p:sp>
        <p:nvSpPr>
          <p:cNvPr id="26" name="road-close">
            <a:extLst xmlns:a="http://schemas.openxmlformats.org/drawingml/2006/main">
              <a:ext uri="{FF2B5EF4-FFF2-40B4-BE49-F238E27FC236}">
                <a16:creationId xmlns:a16="http://schemas.microsoft.com/office/drawing/2014/main" id="{A03F0FFC-699D-47A5-9A03-7600CEB9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MVP already closes detect → explain → anticipate → contain; the roadmap adds production trust, data breadth, and real-world response.</a:t>
            </a:r>
          </a:p>
        </p:txBody>
      </p:sp>
    </p:spTree>
    <p:extLst>
      <p:ext uri="{BB962C8B-B14F-4D97-AF65-F5344CB8AC3E}">
        <p14:creationId xmlns:p14="http://schemas.microsoft.com/office/powerpoint/2010/main" val="17103936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mp-note">
            <a:extLst xmlns:a="http://schemas.openxmlformats.org/drawingml/2006/main">
              <a:ext uri="{FF2B5EF4-FFF2-40B4-BE49-F238E27FC236}">
                <a16:creationId xmlns:a16="http://schemas.microsoft.com/office/drawing/2014/main" id="{A004A910-828E-40DF-A9E5-C26FED16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277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3E88639A-F020-4CCC-BCC1-4250F1E3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Bonus: we differentiate on transparent foresight, not maturity</a:t>
            </a:r>
          </a:p>
        </p:txBody>
      </p:sp>
      <p:sp>
        <p:nvSpPr>
          <p:cNvPr id="3" name="slide-11-accent">
            <a:extLst xmlns:a="http://schemas.openxmlformats.org/drawingml/2006/main">
              <a:ext uri="{FF2B5EF4-FFF2-40B4-BE49-F238E27FC236}">
                <a16:creationId xmlns:a16="http://schemas.microsoft.com/office/drawing/2014/main" id="{3A162916-B022-44F4-87FD-EE95CE35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11-source">
            <a:extLst xmlns:a="http://schemas.openxmlformats.org/drawingml/2006/main">
              <a:ext uri="{FF2B5EF4-FFF2-40B4-BE49-F238E27FC236}">
                <a16:creationId xmlns:a16="http://schemas.microsoft.com/office/drawing/2014/main" id="{9B5FEBC0-07A3-4E8B-B957-4F92E3B6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Sources: current public product documentation reviewed 19 Jul 2026; links in speaker notes.</a:t>
            </a:r>
          </a:p>
        </p:txBody>
      </p:sp>
      <p:sp>
        <p:nvSpPr>
          <p:cNvPr id="5" name="slide-11-page">
            <a:extLst xmlns:a="http://schemas.openxmlformats.org/drawingml/2006/main">
              <a:ext uri="{FF2B5EF4-FFF2-40B4-BE49-F238E27FC236}">
                <a16:creationId xmlns:a16="http://schemas.microsoft.com/office/drawing/2014/main" id="{751A07DF-FF75-42D0-A9AF-0B98D3A8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1266825"/>
          <a:ext xmlns:a="http://schemas.openxmlformats.org/drawingml/2006/main" cx="11277600" cy="4629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1952625"/>
                <a:gridCol w="1952625"/>
                <a:gridCol w="1952625"/>
                <a:gridCol w="1809750"/>
                <a:gridCol w="2133600"/>
              </a:tblGrid>
              <a:tr h="7715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 marL="66675" marR="66675" marT="76200" marB="6667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</a:rPr>
                        <a:t>Behavior + correlation</a:t>
                      </a:r>
                    </a:p>
                  </a:txBody>
                  <a:tcPr marL="66675" marR="66675" marT="76200" marB="6667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</a:rPr>
                        <a:t>ATT&amp;CK / graph</a:t>
                      </a:r>
                    </a:p>
                  </a:txBody>
                  <a:tcPr marL="66675" marR="66675" marT="76200" marB="6667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</a:rPr>
                        <a:t>Explicit next move</a:t>
                      </a:r>
                    </a:p>
                  </a:txBody>
                  <a:tcPr marL="66675" marR="66675" marT="76200" marB="6667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</a:rPr>
                        <a:t>Response</a:t>
                      </a:r>
                    </a:p>
                  </a:txBody>
                  <a:tcPr marL="66675" marR="66675" marT="76200" marB="6667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</a:rPr>
                        <a:t>Best fit / difference</a:t>
                      </a:r>
                    </a:p>
                  </a:txBody>
                  <a:tcPr marL="66675" marR="66675" marT="76200" marB="66675">
                    <a:solidFill>
                      <a:srgbClr val="000000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D8DFF"/>
                          </a:solidFill>
                        </a:rPr>
                        <a:t>Resilience Graph AI</a:t>
                      </a:r>
                    </a:p>
                  </a:txBody>
                  <a:tcPr marL="66675" marR="66675" marT="66675" marB="5715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Benign-only ML + one campaign</a:t>
                      </a:r>
                    </a:p>
                  </a:txBody>
                  <a:tcPr marL="66675" marR="66675" marT="66675" marB="5715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Native host graph; 918 grounded techniques</a:t>
                      </a:r>
                    </a:p>
                  </a:txBody>
                  <a:tcPr marL="66675" marR="66675" marT="66675" marB="5715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Yes — Markov top-3 36.5%</a:t>
                      </a:r>
                    </a:p>
                  </a:txBody>
                  <a:tcPr marL="66675" marR="66675" marT="66675" marB="5715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Simulated; blast-radius gate</a:t>
                      </a:r>
                    </a:p>
                  </a:txBody>
                  <a:tcPr marL="66675" marR="66675" marT="66675" marB="57150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Transparent, India-ready prototype</a:t>
                      </a:r>
                    </a:p>
                  </a:txBody>
                  <a:tcPr marL="66675" marR="66675" marT="66675" marB="57150">
                    <a:solidFill>
                      <a:srgbClr val="EAF5FB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Microsoft Sentinel</a:t>
                      </a:r>
                    </a:p>
                  </a:txBody>
                  <a:tcPr marL="66675" marR="66675" marT="66675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Native UEBA + incidents</a:t>
                      </a:r>
                    </a:p>
                  </a:txBody>
                  <a:tcPr marL="66675" marR="66675" marT="66675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MITRE-aligned; extensible</a:t>
                      </a:r>
                    </a:p>
                  </a:txBody>
                  <a:tcPr marL="66675" marR="66675" marT="66675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highlighted as native output*</a:t>
                      </a:r>
                    </a:p>
                  </a:txBody>
                  <a:tcPr marL="66675" marR="66675" marT="66675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Logic Apps playbooks</a:t>
                      </a:r>
                    </a:p>
                  </a:txBody>
                  <a:tcPr marL="66675" marR="66675" marT="66675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Enterprise cloud SIEM</a:t>
                      </a:r>
                    </a:p>
                  </a:txBody>
                  <a:tcPr marL="66675" marR="66675" marT="66675" marB="57150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Splunk Enterprise Security</a:t>
                      </a:r>
                    </a:p>
                  </a:txBody>
                  <a:tcPr marL="66675" marR="66675" marT="66675" marB="5715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RBA + UEBA; threaded risk</a:t>
                      </a:r>
                    </a:p>
                  </a:txBody>
                  <a:tcPr marL="66675" marR="66675" marT="66675" marB="5715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MITRE alignment + topology</a:t>
                      </a:r>
                    </a:p>
                  </a:txBody>
                  <a:tcPr marL="66675" marR="66675" marT="66675" marB="5715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highlighted as native output*</a:t>
                      </a:r>
                    </a:p>
                  </a:txBody>
                  <a:tcPr marL="66675" marR="66675" marT="66675" marB="5715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Native SOAR; 300+ tools</a:t>
                      </a:r>
                    </a:p>
                  </a:txBody>
                  <a:tcPr marL="66675" marR="66675" marT="66675" marB="5715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Broad integrations and scale</a:t>
                      </a:r>
                    </a:p>
                  </a:txBody>
                  <a:tcPr marL="66675" marR="66675" marT="66675" marB="57150">
                    <a:solidFill>
                      <a:srgbClr val="F6F7F9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Darktrace ActiveAI</a:t>
                      </a:r>
                    </a:p>
                  </a:txBody>
                  <a:tcPr marL="66675" marR="66675" marT="66675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Self-learning + AI Analyst</a:t>
                      </a:r>
                    </a:p>
                  </a:txBody>
                  <a:tcPr marL="66675" marR="66675" marT="66675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Exposes attack paths</a:t>
                      </a:r>
                    </a:p>
                  </a:txBody>
                  <a:tcPr marL="66675" marR="66675" marT="66675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Predicts escalation, not an ATT&amp;CK next-tech list</a:t>
                      </a:r>
                    </a:p>
                  </a:txBody>
                  <a:tcPr marL="66675" marR="66675" marT="66675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Native autonomous response</a:t>
                      </a:r>
                    </a:p>
                  </a:txBody>
                  <a:tcPr marL="66675" marR="66675" marT="66675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Strong autonomous defense</a:t>
                      </a:r>
                    </a:p>
                  </a:txBody>
                  <a:tcPr marL="66675" marR="66675" marT="66675" marB="57150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CrowdStrike Next-Gen SIEM</a:t>
                      </a:r>
                    </a:p>
                  </a:txBody>
                  <a:tcPr marL="66675" marR="66675" marT="66675" marB="5715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AI detection + UEBA</a:t>
                      </a:r>
                    </a:p>
                  </a:txBody>
                  <a:tcPr marL="66675" marR="66675" marT="66675" marB="5715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Cross-domain correlation + threat intel</a:t>
                      </a:r>
                    </a:p>
                  </a:txBody>
                  <a:tcPr marL="66675" marR="66675" marT="66675" marB="5715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Not highlighted as native output*</a:t>
                      </a:r>
                    </a:p>
                  </a:txBody>
                  <a:tcPr marL="66675" marR="66675" marT="66675" marB="5715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Charlotte Agentic SOAR</a:t>
                      </a:r>
                    </a:p>
                  </a:txBody>
                  <a:tcPr marL="66675" marR="66675" marT="66675" marB="5715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Mature agentic SOC</a:t>
                      </a:r>
                    </a:p>
                  </a:txBody>
                  <a:tcPr marL="66675" marR="66675" marT="66675" marB="57150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7" name="comp-footnote">
            <a:extLst xmlns:a="http://schemas.openxmlformats.org/drawingml/2006/main">
              <a:ext uri="{FF2B5EF4-FFF2-40B4-BE49-F238E27FC236}">
                <a16:creationId xmlns:a16="http://schemas.microsoft.com/office/drawing/2014/main" id="{C8F816D6-086A-4B13-805B-2BA40A0B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53150"/>
            <a:ext cx="1093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19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596273"/>
                </a:solidFill>
                <a:latin typeface="Arial"/>
                <a:ea typeface="Arial"/>
                <a:cs typeface="Arial"/>
              </a:rPr>
              <a:t>* ‘Not highlighted’ is not proof of absence; custom rules, add-ons and new releases may change coverage. Resilience Graph AI is a prototype, while the compared products are enterprise platforms.</a:t>
            </a:r>
          </a:p>
        </p:txBody>
      </p:sp>
    </p:spTree>
    <p:extLst>
      <p:ext uri="{BB962C8B-B14F-4D97-AF65-F5344CB8AC3E}">
        <p14:creationId xmlns:p14="http://schemas.microsoft.com/office/powerpoint/2010/main" val="1792109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2026-07-18T20:27:07.5240000Z</dcterms:created>
  <dcterms:modified xsi:type="dcterms:W3CDTF">2026-07-18T20:27:07.5240000Z</dcterms:modified>
</coreProperties>
</file>